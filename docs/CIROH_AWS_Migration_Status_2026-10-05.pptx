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ummary" id="{6c314e07-8ba0-8528-a4b3-4caa14da3465}">
          <p14:sldIdLst>
            <p14:sldId id="256"/>
            <p14:sldId id="257"/>
            <p14:sldId id="258"/>
          </p14:sldIdLst>
        </p14:section>
        <p14:section name="Done" id="{fd361ccb-bff8-9468-c7de-ec4497fd0ed8}">
          <p14:sldIdLst>
            <p14:sldId id="259"/>
            <p14:sldId id="260"/>
            <p14:sldId id="261"/>
            <p14:sldId id="262"/>
            <p14:sldId id="263"/>
          </p14:sldIdLst>
        </p14:section>
        <p14:section name="Pending" id="{5f4fdeef-5e1d-f703-d27d-40811ed6326f}">
          <p14:sldIdLst>
            <p14:sldId id="264"/>
            <p14:sldId id="265"/>
          </p14:sldIdLst>
        </p14:section>
        <p14:section name="Next step" id="{1e6cb203-34db-c7fc-6a58-ed586cd4ec00}">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4F6C"/>
                </a:solidFill>
                <a:latin typeface="+mj-lt"/>
              </a:defRPr>
            </a:pPr>
            <a:r>
              <a:rPr sz="1400" b="0" i="0" u="none" strike="noStrike">
                <a:solidFill>
                  <a:srgbClr val="0B4F6C"/>
                </a:solidFill>
                <a:latin typeface="+mj-lt"/>
              </a:rPr>
              <a:t>563 documents loaded into Aurora</a:t>
            </a:r>
          </a:p>
        </c:rich>
      </c:tx>
      <c:layout/>
      <c:overlay val="0"/>
    </c:title>
    <c:autoTitleDeleted val="0"/>
    <c:plotArea>
      <c:layout/>
      <c:barChart>
        <c:barDir val="bar"/>
        <c:grouping val="clustered"/>
        <c:varyColors val="0"/>
        <c:ser>
          <c:idx val="0"/>
          <c:order val="0"/>
          <c:tx>
            <c:strRef>
              <c:f>Sheet1!$B$1</c:f>
              <c:strCache>
                <c:ptCount val="1"/>
                <c:pt idx="0">
                  <c:v>Documents</c:v>
                </c:pt>
              </c:strCache>
            </c:strRef>
          </c:tx>
          <c:spPr>
            <a:solidFill>
              <a:srgbClr val="1B8A9A"/>
            </a:solidFill>
            <a:effectLst/>
          </c:spPr>
          <c:invertIfNegative val="0"/>
          <c:dLbls>
            <c:numFmt formatCode="#,##0" sourceLinked="0"/>
            <c:txPr>
              <a:bodyPr/>
              <a:lstStyle/>
              <a:p>
                <a:pPr>
                  <a:defRPr b="0" i="0" strike="noStrike" sz="1200" u="none">
                    <a:solidFill>
                      <a:srgbClr val="0F2A3D"/>
                    </a:solidFill>
                    <a:latin typeface="+mn-lt"/>
                  </a:defRPr>
                </a:pPr>
              </a:p>
            </c:txPr>
            <c:showLegendKey val="0"/>
            <c:showVal val="1"/>
            <c:showCatName val="0"/>
            <c:showSerName val="0"/>
            <c:showPercent val="0"/>
            <c:showBubbleSize val="0"/>
            <c:showLeaderLines val="0"/>
          </c:dLbls>
          <c:cat>
            <c:multiLvlStrRef>
              <c:f>Sheet1!$A$2:$A$5</c:f>
              <c:multiLvlStrCache>
                <c:ptCount val="4"/>
                <c:lvl>
                  <c:pt idx="0">
                    <c:v>Publications</c:v>
                  </c:pt>
                  <c:pt idx="1">
                    <c:v>CIROH Hub pages</c:v>
                  </c:pt>
                  <c:pt idx="2">
                    <c:v>Datasets</c:v>
                  </c:pt>
                  <c:pt idx="3">
                    <c:v>GitHub repos</c:v>
                  </c:pt>
                </c:lvl>
              </c:multiLvlStrCache>
            </c:multiLvlStrRef>
          </c:cat>
          <c:val>
            <c:numRef>
              <c:f>Sheet1!$B$2:$B$5</c:f>
              <c:numCache>
                <c:formatCode>General</c:formatCode>
                <c:ptCount val="4"/>
                <c:pt idx="0">
                  <c:v>228</c:v>
                </c:pt>
                <c:pt idx="1">
                  <c:v>242</c:v>
                </c:pt>
                <c:pt idx="2">
                  <c:v>42</c:v>
                </c:pt>
                <c:pt idx="3">
                  <c:v>51</c:v>
                </c:pt>
              </c:numCache>
            </c:numRef>
          </c:val>
        </c:ser>
        <c:dLbls>
          <c:numFmt formatCode="#,##0" sourceLinked="0"/>
          <c:txPr>
            <a:bodyPr/>
            <a:lstStyle/>
            <a:p>
              <a:pPr>
                <a:defRPr b="0" i="0" strike="noStrike" sz="1200" u="none">
                  <a:solidFill>
                    <a:srgbClr val="0F2A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F2A3D"/>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4F6C"/>
                </a:solidFill>
                <a:latin typeface="+mj-lt"/>
              </a:defRPr>
            </a:pPr>
            <a:r>
              <a:rPr sz="1400" b="0" i="0" u="none" strike="noStrike">
                <a:solidFill>
                  <a:srgbClr val="0B4F6C"/>
                </a:solidFill>
                <a:latin typeface="+mj-lt"/>
              </a:rPr>
              <a:t>Estimated monthly cost (USD)</a:t>
            </a:r>
          </a:p>
        </c:rich>
      </c:tx>
      <c:layout/>
      <c:overlay val="0"/>
    </c:title>
    <c:autoTitleDeleted val="0"/>
    <c:plotArea>
      <c:layout/>
      <c:barChart>
        <c:barDir val="col"/>
        <c:grouping val="clustered"/>
        <c:varyColors val="0"/>
        <c:ser>
          <c:idx val="0"/>
          <c:order val="0"/>
          <c:tx>
            <c:strRef>
              <c:f>Sheet1!$B$1</c:f>
              <c:strCache>
                <c:ptCount val="1"/>
                <c:pt idx="0">
                  <c:v>Estimated monthly cost (USD)</c:v>
                </c:pt>
              </c:strCache>
            </c:strRef>
          </c:tx>
          <c:spPr>
            <a:solidFill>
              <a:srgbClr val="1B8A9A"/>
            </a:solidFill>
            <a:effectLst/>
          </c:spPr>
          <c:invertIfNegative val="0"/>
          <c:dLbls>
            <c:numFmt formatCode="$#,##0" sourceLinked="0"/>
            <c:txPr>
              <a:bodyPr/>
              <a:lstStyle/>
              <a:p>
                <a:pPr>
                  <a:defRPr b="0" i="0" strike="noStrike" sz="1200" u="none">
                    <a:solidFill>
                      <a:srgbClr val="0F2A3D"/>
                    </a:solidFill>
                    <a:latin typeface="+mn-lt"/>
                  </a:defRPr>
                </a:pPr>
              </a:p>
            </c:txPr>
            <c:showLegendKey val="0"/>
            <c:showVal val="1"/>
            <c:showCatName val="0"/>
            <c:showSerName val="0"/>
            <c:showPercent val="0"/>
            <c:showBubbleSize val="0"/>
            <c:showLeaderLines val="0"/>
          </c:dLbls>
          <c:cat>
            <c:multiLvlStrRef>
              <c:f>Sheet1!$A$2:$A$4</c:f>
              <c:multiLvlStrCache>
                <c:ptCount val="3"/>
                <c:lvl>
                  <c:pt idx="0">
                    <c:v>Idle</c:v>
                  </c:pt>
                  <c:pt idx="1">
                    <c:v>1,000 questions</c:v>
                  </c:pt>
                  <c:pt idx="2">
                    <c:v>10,000 questions</c:v>
                  </c:pt>
                </c:lvl>
              </c:multiLvlStrCache>
            </c:multiLvlStrRef>
          </c:cat>
          <c:val>
            <c:numRef>
              <c:f>Sheet1!$B$2:$B$4</c:f>
              <c:numCache>
                <c:formatCode>General</c:formatCode>
                <c:ptCount val="3"/>
                <c:pt idx="0">
                  <c:v>12</c:v>
                </c:pt>
                <c:pt idx="1">
                  <c:v>22</c:v>
                </c:pt>
                <c:pt idx="2">
                  <c:v>112</c:v>
                </c:pt>
              </c:numCache>
            </c:numRef>
          </c:val>
        </c:ser>
        <c:dLbls>
          <c:numFmt formatCode="$#,##0" sourceLinked="0"/>
          <c:txPr>
            <a:bodyPr/>
            <a:lstStyle/>
            <a:p>
              <a:pPr>
                <a:defRPr b="0" i="0" strike="noStrike" sz="1200" u="none">
                  <a:solidFill>
                    <a:srgbClr val="0F2A3D"/>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F2A3D"/>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of the Azure-to-AWS migration of the CIROH DocuHub chatbot, following the AWS Migration Plan V2. The app is live on AWS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the migration plan's target architecture is running. The test numbers come from the end-to-end smoke test through CloudFront and from the live chat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matches Figure 1 of the migration plan, with one change: WAF sits on CloudFront because AWS WAF cannot attach to API Gateway HTTP APIs.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university account policy does not allow an access portal URL or access keys, so the whole deployment runs from AWS CloudShell inside the console. Docs: AWS_DEPLOYMENT.md, AWS_DEPLOYMENT_CLOUDSHELL.md, AWS_PERMISSIONS.md.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 database credentials were not available, so the corpus was rebuilt from the source files the notebook used to fill Azure. If Azure holds newer content than the repo files, it is not included yet (see 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Distances are cosine distances from pgvector: lower is closer. The off-topic gate rejects anything above 0.7 before the model is called.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from the earlier CDK commit would not have deployed or answered questions as written. All fixes are in the local repo and were verified with local synth/tests and the live deploy.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Monthly figures are estimates: idle about $8-15 plus about $0.01 per question. The measured question in the UI used 7,923 tokens, about $0.0101. At 10,000 questions a month the bill would pass the $60 budget, so cost tuning is on the pending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log group is /aws/lambda/ciroh-docuhub-ask in CloudWatch: empty and free, but worth removing. Azure sync needs someone with the Azure database password: run migrate_to_bedrock.py --export, then load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is where we are now. The production switches are each a one-line setting in infra/cdk.json plus a redeploy, except the custom domain, which needs Route 53 and a certificate.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question after a few idle minutes can take about 15 seconds longer while the database wakes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1887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560320"/>
            <a:ext cx="8046720" cy="1463040"/>
          </a:xfrm>
          <a:prstGeom prst="rect">
            <a:avLst/>
          </a:prstGeom>
          <a:noFill/>
          <a:ln/>
        </p:spPr>
        <p:txBody>
          <a:bodyPr wrap="square" rtlCol="0"/>
          <a:lstStyle>
            <a:lvl1pPr indent="0" marL="0">
              <a:spcAft>
                <a:spcPts val="600"/>
              </a:spcAft>
              <a:buNone/>
              <a:defRPr lang="en-US" sz="1800" dirty="0">
                <a:solidFill>
                  <a:schemeClr val="bg1"/>
                </a:solidFill>
              </a:defRPr>
            </a:lvl1pPr>
          </a:lstStyle>
          <a:p>
            <a:pPr indent="0" marL="0">
              <a:spcAft>
                <a:spcPts val="600"/>
              </a:spcAft>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457200" y="4754880"/>
            <a:ext cx="6400800" cy="274320"/>
          </a:xfrm>
          <a:prstGeom prst="rect">
            <a:avLst/>
          </a:prstGeom>
          <a:noFill/>
          <a:ln/>
        </p:spPr>
        <p:txBody>
          <a:bodyPr wrap="square" lIns="0" tIns="0" rIns="0" bIns="0" rtlCol="0" anchor="ctr"/>
          <a:lstStyle/>
          <a:p>
            <a:pPr indent="0" marL="0">
              <a:buNone/>
            </a:pPr>
            <a:r>
              <a:rPr lang="en-US" sz="1000" dirty="0">
                <a:solidFill>
                  <a:schemeClr val="accent5"/>
                </a:solidFill>
              </a:rPr>
              <a:t>CIROH DocuHub Chatbot  |  AWS migration status  |  October 2026</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3.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water drop circle"/>
          <p:cNvSpPr/>
          <p:nvPr/>
        </p:nvSpPr>
        <p:spPr>
          <a:xfrm>
            <a:off x="548640" y="502920"/>
            <a:ext cx="685800" cy="685800"/>
          </a:xfrm>
          <a:prstGeom prst="ellipse">
            <a:avLst/>
          </a:prstGeom>
          <a:solidFill>
            <a:schemeClr val="accent1"/>
          </a:solidFill>
          <a:ln w="12700">
            <a:solidFill>
              <a:schemeClr val="accent1"/>
            </a:solidFill>
            <a:prstDash val="solid"/>
          </a:ln>
        </p:spPr>
      </p:sp>
      <p:pic>
        <p:nvPicPr>
          <p:cNvPr id="3" name="Title water drop icon" descr="Title water drop">    </p:cNvPr>
          <p:cNvPicPr>
            <a:picLocks noChangeAspect="1"/>
          </p:cNvPicPr>
          <p:nvPr/>
        </p:nvPicPr>
        <p:blipFill>
          <a:blip r:embed="rId1"/>
          <a:stretch>
            <a:fillRect/>
          </a:stretch>
        </p:blipFill>
        <p:spPr>
          <a:xfrm>
            <a:off x="720090" y="674370"/>
            <a:ext cx="342900" cy="342900"/>
          </a:xfrm>
          <a:prstGeom prst="rect">
            <a:avLst/>
          </a:prstGeom>
        </p:spPr>
      </p:pic>
      <p:sp>
        <p:nvSpPr>
          <p:cNvPr id="4" name="Text 0"/>
          <p:cNvSpPr/>
          <p:nvPr>
            <p:ph idx="100" type="title" hasCustomPrompt="1"/>
          </p:nvPr>
        </p:nvSpPr>
        <p:spPr>
          <a:xfrm>
            <a:off x="548640" y="1234440"/>
            <a:ext cx="8046720" cy="1188720"/>
          </a:xfrm>
          <a:prstGeom prst="rect">
            <a:avLst/>
          </a:prstGeom>
          <a:noFill/>
          <a:ln/>
        </p:spPr>
        <p:txBody>
          <a:bodyPr wrap="square" lIns="0" tIns="0" rIns="0" bIns="0" rtlCol="0" anchor="b"/>
          <a:lstStyle/>
          <a:p>
            <a:pPr algn="l" indent="0" marL="0">
              <a:buNone/>
            </a:pPr>
            <a:r>
              <a:rPr lang="en-US" sz="4000" b="1" dirty="0">
                <a:solidFill>
                  <a:schemeClr val="bg1"/>
                </a:solidFill>
              </a:rPr>
              <a:t>CIROH DocuHub Chatbot on AWS</a:t>
            </a:r>
            <a:endParaRPr lang="en-US" sz="4000" dirty="0"/>
          </a:p>
        </p:txBody>
      </p:sp>
      <p:sp>
        <p:nvSpPr>
          <p:cNvPr id="5" name="Text 0"/>
          <p:cNvSpPr/>
          <p:nvPr>
            <p:ph idx="101" type="body" hasCustomPrompt="1"/>
          </p:nvPr>
        </p:nvSpPr>
        <p:spPr>
          <a:xfrm>
            <a:off x="548640" y="2560320"/>
            <a:ext cx="8046720" cy="1463040"/>
          </a:xfrm>
          <a:prstGeom prst="rect">
            <a:avLst/>
          </a:prstGeom>
          <a:noFill/>
          <a:ln/>
        </p:spPr>
        <p:txBody>
          <a:bodyPr wrap="square" lIns="0" tIns="0" rIns="0" bIns="0" rtlCol="0" anchor="t"/>
          <a:lstStyle/>
          <a:p>
            <a:pPr indent="0" marL="0">
              <a:spcAft>
                <a:spcPts val="600"/>
              </a:spcAft>
              <a:buNone/>
            </a:pPr>
            <a:r>
              <a:rPr lang="en-US" sz="1800" dirty="0">
                <a:solidFill>
                  <a:schemeClr val="bg1"/>
                </a:solidFill>
              </a:rPr>
              <a:t>Migration status update  |  October 5, 2026</a:t>
            </a:r>
            <a:endParaRPr lang="en-US" sz="1800" dirty="0"/>
          </a:p>
          <a:p>
            <a:pPr indent="0" marL="0">
              <a:spcAft>
                <a:spcPts val="600"/>
              </a:spcAft>
              <a:buNone/>
            </a:pPr>
            <a:r>
              <a:rPr lang="en-US" sz="1600" dirty="0">
                <a:solidFill>
                  <a:schemeClr val="accent6"/>
                </a:solidFill>
              </a:rPr>
              <a:t>Live: https://d1ex71xvx5s2ao.cloudfront.net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The chatbot is live on AWS, end to end</a:t>
            </a:r>
            <a:endParaRPr lang="en-US" sz="3000" dirty="0"/>
          </a:p>
        </p:txBody>
      </p:sp>
      <p:sp>
        <p:nvSpPr>
          <p:cNvPr id="3" name="Stat card 1"/>
          <p:cNvSpPr/>
          <p:nvPr/>
        </p:nvSpPr>
        <p:spPr>
          <a:xfrm>
            <a:off x="457200" y="1188720"/>
            <a:ext cx="1920240" cy="1828800"/>
          </a:xfrm>
          <a:prstGeom prst="roundRect">
            <a:avLst>
              <a:gd name="adj" fmla="val 4000"/>
            </a:avLst>
          </a:prstGeom>
          <a:solidFill>
            <a:schemeClr val="bg2"/>
          </a:solidFill>
          <a:ln w="12700">
            <a:solidFill>
              <a:schemeClr val="bg2"/>
            </a:solidFill>
            <a:prstDash val="solid"/>
          </a:ln>
        </p:spPr>
      </p:sp>
      <p:sp>
        <p:nvSpPr>
          <p:cNvPr id="4" name="Stat value 1"/>
          <p:cNvSpPr txBox="1"/>
          <p:nvPr/>
        </p:nvSpPr>
        <p:spPr>
          <a:xfrm>
            <a:off x="594360" y="1371600"/>
            <a:ext cx="1645920" cy="82296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58 / 58</a:t>
            </a:r>
            <a:endParaRPr lang="en-US" sz="3400" dirty="0"/>
          </a:p>
        </p:txBody>
      </p:sp>
      <p:sp>
        <p:nvSpPr>
          <p:cNvPr id="5" name="Stat label 1"/>
          <p:cNvSpPr txBox="1"/>
          <p:nvPr/>
        </p:nvSpPr>
        <p:spPr>
          <a:xfrm>
            <a:off x="594360" y="2194560"/>
            <a:ext cx="1645920" cy="731520"/>
          </a:xfrm>
          <a:prstGeom prst="rect">
            <a:avLst/>
          </a:prstGeom>
          <a:noFill/>
          <a:ln/>
        </p:spPr>
        <p:txBody>
          <a:bodyPr wrap="square" lIns="0" tIns="0" rIns="0" bIns="0" rtlCol="0" anchor="t"/>
          <a:lstStyle/>
          <a:p>
            <a:pPr indent="0" marL="0">
              <a:buNone/>
            </a:pPr>
            <a:r>
              <a:rPr lang="en-US" sz="1400" dirty="0">
                <a:solidFill>
                  <a:schemeClr val="tx1"/>
                </a:solidFill>
              </a:rPr>
              <a:t>AWS resources deployed, zero failures</a:t>
            </a:r>
            <a:endParaRPr lang="en-US" sz="1400" dirty="0"/>
          </a:p>
        </p:txBody>
      </p:sp>
      <p:sp>
        <p:nvSpPr>
          <p:cNvPr id="6" name="Stat card 2"/>
          <p:cNvSpPr/>
          <p:nvPr/>
        </p:nvSpPr>
        <p:spPr>
          <a:xfrm>
            <a:off x="2560320" y="1188720"/>
            <a:ext cx="1920240" cy="1828800"/>
          </a:xfrm>
          <a:prstGeom prst="roundRect">
            <a:avLst>
              <a:gd name="adj" fmla="val 4000"/>
            </a:avLst>
          </a:prstGeom>
          <a:solidFill>
            <a:schemeClr val="bg2"/>
          </a:solidFill>
          <a:ln w="12700">
            <a:solidFill>
              <a:schemeClr val="bg2"/>
            </a:solidFill>
            <a:prstDash val="solid"/>
          </a:ln>
        </p:spPr>
      </p:sp>
      <p:sp>
        <p:nvSpPr>
          <p:cNvPr id="7" name="Stat value 2"/>
          <p:cNvSpPr txBox="1"/>
          <p:nvPr/>
        </p:nvSpPr>
        <p:spPr>
          <a:xfrm>
            <a:off x="2697480" y="1371600"/>
            <a:ext cx="1645920" cy="822960"/>
          </a:xfrm>
          <a:prstGeom prst="rect">
            <a:avLst/>
          </a:prstGeom>
          <a:noFill/>
          <a:ln/>
        </p:spPr>
        <p:txBody>
          <a:bodyPr wrap="square" lIns="0" tIns="0" rIns="0" bIns="0" rtlCol="0" anchor="ctr"/>
          <a:lstStyle/>
          <a:p>
            <a:pPr indent="0" marL="0">
              <a:buNone/>
            </a:pPr>
            <a:r>
              <a:rPr lang="en-US" sz="3400" b="1" dirty="0">
                <a:solidFill>
                  <a:schemeClr val="accent5"/>
                </a:solidFill>
                <a:latin typeface="Cambria" pitchFamily="34" charset="0"/>
                <a:ea typeface="Cambria" pitchFamily="34" charset="-122"/>
                <a:cs typeface="Cambria" pitchFamily="34" charset="-120"/>
              </a:rPr>
              <a:t>13,749</a:t>
            </a:r>
            <a:endParaRPr lang="en-US" sz="3400" dirty="0"/>
          </a:p>
        </p:txBody>
      </p:sp>
      <p:sp>
        <p:nvSpPr>
          <p:cNvPr id="8" name="Stat label 2"/>
          <p:cNvSpPr txBox="1"/>
          <p:nvPr/>
        </p:nvSpPr>
        <p:spPr>
          <a:xfrm>
            <a:off x="2697480" y="2194560"/>
            <a:ext cx="1645920" cy="731520"/>
          </a:xfrm>
          <a:prstGeom prst="rect">
            <a:avLst/>
          </a:prstGeom>
          <a:noFill/>
          <a:ln/>
        </p:spPr>
        <p:txBody>
          <a:bodyPr wrap="square" lIns="0" tIns="0" rIns="0" bIns="0" rtlCol="0" anchor="t"/>
          <a:lstStyle/>
          <a:p>
            <a:pPr indent="0" marL="0">
              <a:buNone/>
            </a:pPr>
            <a:r>
              <a:rPr lang="en-US" sz="1400" dirty="0">
                <a:solidFill>
                  <a:schemeClr val="tx1"/>
                </a:solidFill>
              </a:rPr>
              <a:t>text chunks embedded across 563 documents</a:t>
            </a:r>
            <a:endParaRPr lang="en-US" sz="1400" dirty="0"/>
          </a:p>
        </p:txBody>
      </p:sp>
      <p:sp>
        <p:nvSpPr>
          <p:cNvPr id="9" name="Stat card 3"/>
          <p:cNvSpPr/>
          <p:nvPr/>
        </p:nvSpPr>
        <p:spPr>
          <a:xfrm>
            <a:off x="4663440" y="1188720"/>
            <a:ext cx="1920240" cy="1828800"/>
          </a:xfrm>
          <a:prstGeom prst="roundRect">
            <a:avLst>
              <a:gd name="adj" fmla="val 4000"/>
            </a:avLst>
          </a:prstGeom>
          <a:solidFill>
            <a:schemeClr val="bg2"/>
          </a:solidFill>
          <a:ln w="12700">
            <a:solidFill>
              <a:schemeClr val="bg2"/>
            </a:solidFill>
            <a:prstDash val="solid"/>
          </a:ln>
        </p:spPr>
      </p:sp>
      <p:sp>
        <p:nvSpPr>
          <p:cNvPr id="10" name="Stat value 3"/>
          <p:cNvSpPr txBox="1"/>
          <p:nvPr/>
        </p:nvSpPr>
        <p:spPr>
          <a:xfrm>
            <a:off x="4800600" y="1371600"/>
            <a:ext cx="1645920" cy="822960"/>
          </a:xfrm>
          <a:prstGeom prst="rect">
            <a:avLst/>
          </a:prstGeom>
          <a:noFill/>
          <a:ln/>
        </p:spPr>
        <p:txBody>
          <a:bodyPr wrap="square" lIns="0" tIns="0" rIns="0" bIns="0" rtlCol="0" anchor="ctr"/>
          <a:lstStyle/>
          <a:p>
            <a:pPr indent="0" marL="0">
              <a:buNone/>
            </a:pPr>
            <a:r>
              <a:rPr lang="en-US" sz="3400" b="1" dirty="0">
                <a:solidFill>
                  <a:schemeClr val="accent2"/>
                </a:solidFill>
                <a:latin typeface="Cambria" pitchFamily="34" charset="0"/>
                <a:ea typeface="Cambria" pitchFamily="34" charset="-122"/>
                <a:cs typeface="Cambria" pitchFamily="34" charset="-120"/>
              </a:rPr>
              <a:t>8-10 s</a:t>
            </a:r>
            <a:endParaRPr lang="en-US" sz="3400" dirty="0"/>
          </a:p>
        </p:txBody>
      </p:sp>
      <p:sp>
        <p:nvSpPr>
          <p:cNvPr id="11" name="Stat label 3"/>
          <p:cNvSpPr txBox="1"/>
          <p:nvPr/>
        </p:nvSpPr>
        <p:spPr>
          <a:xfrm>
            <a:off x="4800600" y="2194560"/>
            <a:ext cx="1645920" cy="731520"/>
          </a:xfrm>
          <a:prstGeom prst="rect">
            <a:avLst/>
          </a:prstGeom>
          <a:noFill/>
          <a:ln/>
        </p:spPr>
        <p:txBody>
          <a:bodyPr wrap="square" lIns="0" tIns="0" rIns="0" bIns="0" rtlCol="0" anchor="t"/>
          <a:lstStyle/>
          <a:p>
            <a:pPr indent="0" marL="0">
              <a:buNone/>
            </a:pPr>
            <a:r>
              <a:rPr lang="en-US" sz="1400" dirty="0">
                <a:solidFill>
                  <a:schemeClr val="tx1"/>
                </a:solidFill>
              </a:rPr>
              <a:t>answer time (API limit is 29 s)</a:t>
            </a:r>
            <a:endParaRPr lang="en-US" sz="1400" dirty="0"/>
          </a:p>
        </p:txBody>
      </p:sp>
      <p:sp>
        <p:nvSpPr>
          <p:cNvPr id="12" name="Stat card 4"/>
          <p:cNvSpPr/>
          <p:nvPr/>
        </p:nvSpPr>
        <p:spPr>
          <a:xfrm>
            <a:off x="6766560" y="1188720"/>
            <a:ext cx="1920240" cy="1828800"/>
          </a:xfrm>
          <a:prstGeom prst="roundRect">
            <a:avLst>
              <a:gd name="adj" fmla="val 4000"/>
            </a:avLst>
          </a:prstGeom>
          <a:solidFill>
            <a:schemeClr val="bg2"/>
          </a:solidFill>
          <a:ln w="12700">
            <a:solidFill>
              <a:schemeClr val="bg2"/>
            </a:solidFill>
            <a:prstDash val="solid"/>
          </a:ln>
        </p:spPr>
      </p:sp>
      <p:sp>
        <p:nvSpPr>
          <p:cNvPr id="13" name="Stat value 4"/>
          <p:cNvSpPr txBox="1"/>
          <p:nvPr/>
        </p:nvSpPr>
        <p:spPr>
          <a:xfrm>
            <a:off x="6903720" y="1371600"/>
            <a:ext cx="1645920" cy="822960"/>
          </a:xfrm>
          <a:prstGeom prst="rect">
            <a:avLst/>
          </a:prstGeom>
          <a:noFill/>
          <a:ln/>
        </p:spPr>
        <p:txBody>
          <a:bodyPr wrap="square" lIns="0" tIns="0" rIns="0" bIns="0" rtlCol="0" anchor="ctr"/>
          <a:lstStyle/>
          <a:p>
            <a:pPr indent="0" marL="0">
              <a:buNone/>
            </a:pPr>
            <a:r>
              <a:rPr lang="en-US" sz="3400" b="1" dirty="0">
                <a:solidFill>
                  <a:schemeClr val="accent3"/>
                </a:solidFill>
                <a:latin typeface="Cambria" pitchFamily="34" charset="0"/>
                <a:ea typeface="Cambria" pitchFamily="34" charset="-122"/>
                <a:cs typeface="Cambria" pitchFamily="34" charset="-120"/>
              </a:rPr>
              <a:t>~1¢</a:t>
            </a:r>
            <a:endParaRPr lang="en-US" sz="3400" dirty="0"/>
          </a:p>
        </p:txBody>
      </p:sp>
      <p:sp>
        <p:nvSpPr>
          <p:cNvPr id="14" name="Stat label 4"/>
          <p:cNvSpPr txBox="1"/>
          <p:nvPr/>
        </p:nvSpPr>
        <p:spPr>
          <a:xfrm>
            <a:off x="6903720" y="2194560"/>
            <a:ext cx="1645920" cy="731520"/>
          </a:xfrm>
          <a:prstGeom prst="rect">
            <a:avLst/>
          </a:prstGeom>
          <a:noFill/>
          <a:ln/>
        </p:spPr>
        <p:txBody>
          <a:bodyPr wrap="square" lIns="0" tIns="0" rIns="0" bIns="0" rtlCol="0" anchor="t"/>
          <a:lstStyle/>
          <a:p>
            <a:pPr indent="0" marL="0">
              <a:buNone/>
            </a:pPr>
            <a:r>
              <a:rPr lang="en-US" sz="1400" dirty="0">
                <a:solidFill>
                  <a:schemeClr val="tx1"/>
                </a:solidFill>
              </a:rPr>
              <a:t>per question on Claude Haiku 4.5</a:t>
            </a:r>
            <a:endParaRPr lang="en-US" sz="1400" dirty="0"/>
          </a:p>
        </p:txBody>
      </p:sp>
      <p:sp>
        <p:nvSpPr>
          <p:cNvPr id="15" name="Summary line"/>
          <p:cNvSpPr txBox="1"/>
          <p:nvPr/>
        </p:nvSpPr>
        <p:spPr>
          <a:xfrm>
            <a:off x="457200" y="3429000"/>
            <a:ext cx="8229600" cy="457200"/>
          </a:xfrm>
          <a:prstGeom prst="rect">
            <a:avLst/>
          </a:prstGeom>
          <a:noFill/>
          <a:ln/>
        </p:spPr>
        <p:txBody>
          <a:bodyPr wrap="square" lIns="0" tIns="0" rIns="0" bIns="0" rtlCol="0" anchor="ctr"/>
          <a:lstStyle/>
          <a:p>
            <a:pPr indent="0" marL="0">
              <a:buNone/>
            </a:pPr>
            <a:r>
              <a:rPr lang="en-US" sz="1800" i="1" dirty="0">
                <a:solidFill>
                  <a:schemeClr val="tx2"/>
                </a:solidFill>
              </a:rPr>
              <a:t>Remaining work is cleanup, tuning, and the cutover from Azure.</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What is running in AWS today</a:t>
            </a:r>
            <a:endParaRPr lang="en-US" sz="3000" dirty="0"/>
          </a:p>
        </p:txBody>
      </p:sp>
      <p:sp>
        <p:nvSpPr>
          <p:cNvPr id="3" name="Flow box Browser"/>
          <p:cNvSpPr/>
          <p:nvPr/>
        </p:nvSpPr>
        <p:spPr>
          <a:xfrm>
            <a:off x="457200" y="1417320"/>
            <a:ext cx="1143000" cy="960120"/>
          </a:xfrm>
          <a:prstGeom prst="roundRect">
            <a:avLst>
              <a:gd name="adj" fmla="val 7619"/>
            </a:avLst>
          </a:prstGeom>
          <a:solidFill>
            <a:schemeClr val="tx2"/>
          </a:solidFill>
          <a:ln w="12700">
            <a:solidFill>
              <a:schemeClr val="tx2"/>
            </a:solidFill>
            <a:prstDash val="solid"/>
          </a:ln>
        </p:spPr>
      </p:sp>
      <p:sp>
        <p:nvSpPr>
          <p:cNvPr id="4" name="Flow text Browser"/>
          <p:cNvSpPr txBox="1"/>
          <p:nvPr/>
        </p:nvSpPr>
        <p:spPr>
          <a:xfrm>
            <a:off x="530352" y="1463040"/>
            <a:ext cx="996696" cy="868680"/>
          </a:xfrm>
          <a:prstGeom prst="rect">
            <a:avLst/>
          </a:prstGeom>
          <a:noFill/>
          <a:ln/>
        </p:spPr>
        <p:txBody>
          <a:bodyPr wrap="square" lIns="0" tIns="0" rIns="0" bIns="0" rtlCol="0" anchor="ctr"/>
          <a:lstStyle/>
          <a:p>
            <a:pPr algn="ctr" indent="0" marL="0">
              <a:buNone/>
            </a:pPr>
            <a:r>
              <a:rPr lang="en-US" sz="1400" b="1" dirty="0">
                <a:solidFill>
                  <a:schemeClr val="bg1"/>
                </a:solidFill>
              </a:rPr>
              <a:t>Browser</a:t>
            </a:r>
            <a:endParaRPr lang="en-US" sz="1400" dirty="0"/>
          </a:p>
          <a:p>
            <a:pPr algn="ctr" indent="0" marL="0">
              <a:buNone/>
            </a:pPr>
            <a:r>
              <a:rPr lang="en-US" sz="1100" dirty="0">
                <a:solidFill>
                  <a:schemeClr val="bg1"/>
                </a:solidFill>
              </a:rPr>
              <a:t>React chat UI</a:t>
            </a:r>
            <a:endParaRPr lang="en-US" sz="1400" dirty="0"/>
          </a:p>
        </p:txBody>
      </p:sp>
      <p:sp>
        <p:nvSpPr>
          <p:cNvPr id="5" name="Flow arrow 0"/>
          <p:cNvSpPr/>
          <p:nvPr/>
        </p:nvSpPr>
        <p:spPr>
          <a:xfrm>
            <a:off x="1627632" y="1897380"/>
            <a:ext cx="219456" cy="0"/>
          </a:xfrm>
          <a:prstGeom prst="line">
            <a:avLst/>
          </a:prstGeom>
          <a:noFill/>
          <a:ln w="25400">
            <a:solidFill>
              <a:schemeClr val="accent1"/>
            </a:solidFill>
            <a:prstDash val="solid"/>
            <a:tailEnd type="triangle"/>
          </a:ln>
        </p:spPr>
      </p:sp>
      <p:sp>
        <p:nvSpPr>
          <p:cNvPr id="6" name="Flow box CloudFront + WAF"/>
          <p:cNvSpPr/>
          <p:nvPr/>
        </p:nvSpPr>
        <p:spPr>
          <a:xfrm>
            <a:off x="1874520" y="1417320"/>
            <a:ext cx="1417320" cy="960120"/>
          </a:xfrm>
          <a:prstGeom prst="roundRect">
            <a:avLst>
              <a:gd name="adj" fmla="val 7619"/>
            </a:avLst>
          </a:prstGeom>
          <a:solidFill>
            <a:schemeClr val="tx2"/>
          </a:solidFill>
          <a:ln w="12700">
            <a:solidFill>
              <a:schemeClr val="tx2"/>
            </a:solidFill>
            <a:prstDash val="solid"/>
          </a:ln>
        </p:spPr>
      </p:sp>
      <p:sp>
        <p:nvSpPr>
          <p:cNvPr id="7" name="Flow text CloudFront + WAF"/>
          <p:cNvSpPr txBox="1"/>
          <p:nvPr/>
        </p:nvSpPr>
        <p:spPr>
          <a:xfrm>
            <a:off x="1947672" y="1463040"/>
            <a:ext cx="1271016" cy="868680"/>
          </a:xfrm>
          <a:prstGeom prst="rect">
            <a:avLst/>
          </a:prstGeom>
          <a:noFill/>
          <a:ln/>
        </p:spPr>
        <p:txBody>
          <a:bodyPr wrap="square" lIns="0" tIns="0" rIns="0" bIns="0" rtlCol="0" anchor="ctr"/>
          <a:lstStyle/>
          <a:p>
            <a:pPr algn="ctr" indent="0" marL="0">
              <a:buNone/>
            </a:pPr>
            <a:r>
              <a:rPr lang="en-US" sz="1400" b="1" dirty="0">
                <a:solidFill>
                  <a:schemeClr val="bg1"/>
                </a:solidFill>
              </a:rPr>
              <a:t>CloudFront + WAF</a:t>
            </a:r>
            <a:endParaRPr lang="en-US" sz="1400" dirty="0"/>
          </a:p>
          <a:p>
            <a:pPr algn="ctr" indent="0" marL="0">
              <a:buNone/>
            </a:pPr>
            <a:r>
              <a:rPr lang="en-US" sz="1100" dirty="0">
                <a:solidFill>
                  <a:schemeClr val="bg1"/>
                </a:solidFill>
              </a:rPr>
              <a:t>CDN, rate limit, managed rules</a:t>
            </a:r>
            <a:endParaRPr lang="en-US" sz="1400" dirty="0"/>
          </a:p>
        </p:txBody>
      </p:sp>
      <p:sp>
        <p:nvSpPr>
          <p:cNvPr id="8" name="Flow arrow 1"/>
          <p:cNvSpPr/>
          <p:nvPr/>
        </p:nvSpPr>
        <p:spPr>
          <a:xfrm>
            <a:off x="3319272" y="1897380"/>
            <a:ext cx="219456" cy="0"/>
          </a:xfrm>
          <a:prstGeom prst="line">
            <a:avLst/>
          </a:prstGeom>
          <a:noFill/>
          <a:ln w="25400">
            <a:solidFill>
              <a:schemeClr val="accent1"/>
            </a:solidFill>
            <a:prstDash val="solid"/>
            <a:tailEnd type="triangle"/>
          </a:ln>
        </p:spPr>
      </p:sp>
      <p:sp>
        <p:nvSpPr>
          <p:cNvPr id="9" name="Flow box API Gateway"/>
          <p:cNvSpPr/>
          <p:nvPr/>
        </p:nvSpPr>
        <p:spPr>
          <a:xfrm>
            <a:off x="3566160" y="1417320"/>
            <a:ext cx="1325880" cy="960120"/>
          </a:xfrm>
          <a:prstGeom prst="roundRect">
            <a:avLst>
              <a:gd name="adj" fmla="val 7619"/>
            </a:avLst>
          </a:prstGeom>
          <a:solidFill>
            <a:schemeClr val="tx2"/>
          </a:solidFill>
          <a:ln w="12700">
            <a:solidFill>
              <a:schemeClr val="tx2"/>
            </a:solidFill>
            <a:prstDash val="solid"/>
          </a:ln>
        </p:spPr>
      </p:sp>
      <p:sp>
        <p:nvSpPr>
          <p:cNvPr id="10" name="Flow text API Gateway"/>
          <p:cNvSpPr txBox="1"/>
          <p:nvPr/>
        </p:nvSpPr>
        <p:spPr>
          <a:xfrm>
            <a:off x="3639312" y="1463040"/>
            <a:ext cx="1179576" cy="868680"/>
          </a:xfrm>
          <a:prstGeom prst="rect">
            <a:avLst/>
          </a:prstGeom>
          <a:noFill/>
          <a:ln/>
        </p:spPr>
        <p:txBody>
          <a:bodyPr wrap="square" lIns="0" tIns="0" rIns="0" bIns="0" rtlCol="0" anchor="ctr"/>
          <a:lstStyle/>
          <a:p>
            <a:pPr algn="ctr" indent="0" marL="0">
              <a:buNone/>
            </a:pPr>
            <a:r>
              <a:rPr lang="en-US" sz="1400" b="1" dirty="0">
                <a:solidFill>
                  <a:schemeClr val="bg1"/>
                </a:solidFill>
              </a:rPr>
              <a:t>API Gateway</a:t>
            </a:r>
            <a:endParaRPr lang="en-US" sz="1400" dirty="0"/>
          </a:p>
          <a:p>
            <a:pPr algn="ctr" indent="0" marL="0">
              <a:buNone/>
            </a:pPr>
            <a:r>
              <a:rPr lang="en-US" sz="1100" dirty="0">
                <a:solidFill>
                  <a:schemeClr val="bg1"/>
                </a:solidFill>
              </a:rPr>
              <a:t>HTTP API, throttled</a:t>
            </a:r>
            <a:endParaRPr lang="en-US" sz="1400" dirty="0"/>
          </a:p>
        </p:txBody>
      </p:sp>
      <p:sp>
        <p:nvSpPr>
          <p:cNvPr id="11" name="Flow arrow 2"/>
          <p:cNvSpPr/>
          <p:nvPr/>
        </p:nvSpPr>
        <p:spPr>
          <a:xfrm>
            <a:off x="4919472" y="1897380"/>
            <a:ext cx="219456" cy="0"/>
          </a:xfrm>
          <a:prstGeom prst="line">
            <a:avLst/>
          </a:prstGeom>
          <a:noFill/>
          <a:ln w="25400">
            <a:solidFill>
              <a:schemeClr val="accent1"/>
            </a:solidFill>
            <a:prstDash val="solid"/>
            <a:tailEnd type="triangle"/>
          </a:ln>
        </p:spPr>
      </p:sp>
      <p:sp>
        <p:nvSpPr>
          <p:cNvPr id="12" name="Flow box Lambda"/>
          <p:cNvSpPr/>
          <p:nvPr/>
        </p:nvSpPr>
        <p:spPr>
          <a:xfrm>
            <a:off x="5166360" y="1417320"/>
            <a:ext cx="1325880" cy="960120"/>
          </a:xfrm>
          <a:prstGeom prst="roundRect">
            <a:avLst>
              <a:gd name="adj" fmla="val 7619"/>
            </a:avLst>
          </a:prstGeom>
          <a:solidFill>
            <a:schemeClr val="tx2"/>
          </a:solidFill>
          <a:ln w="12700">
            <a:solidFill>
              <a:schemeClr val="tx2"/>
            </a:solidFill>
            <a:prstDash val="solid"/>
          </a:ln>
        </p:spPr>
      </p:sp>
      <p:sp>
        <p:nvSpPr>
          <p:cNvPr id="13" name="Flow text Lambda"/>
          <p:cNvSpPr txBox="1"/>
          <p:nvPr/>
        </p:nvSpPr>
        <p:spPr>
          <a:xfrm>
            <a:off x="5239512" y="1463040"/>
            <a:ext cx="1179576" cy="868680"/>
          </a:xfrm>
          <a:prstGeom prst="rect">
            <a:avLst/>
          </a:prstGeom>
          <a:noFill/>
          <a:ln/>
        </p:spPr>
        <p:txBody>
          <a:bodyPr wrap="square" lIns="0" tIns="0" rIns="0" bIns="0" rtlCol="0" anchor="ctr"/>
          <a:lstStyle/>
          <a:p>
            <a:pPr algn="ctr" indent="0" marL="0">
              <a:buNone/>
            </a:pPr>
            <a:r>
              <a:rPr lang="en-US" sz="1400" b="1" dirty="0">
                <a:solidFill>
                  <a:schemeClr val="bg1"/>
                </a:solidFill>
              </a:rPr>
              <a:t>Lambda</a:t>
            </a:r>
            <a:endParaRPr lang="en-US" sz="1400" dirty="0"/>
          </a:p>
          <a:p>
            <a:pPr algn="ctr" indent="0" marL="0">
              <a:buNone/>
            </a:pPr>
            <a:r>
              <a:rPr lang="en-US" sz="1100" dirty="0">
                <a:solidFill>
                  <a:schemeClr val="bg1"/>
                </a:solidFill>
              </a:rPr>
              <a:t>FastAPI + hybrid RAG</a:t>
            </a:r>
            <a:endParaRPr lang="en-US" sz="1400" dirty="0"/>
          </a:p>
        </p:txBody>
      </p:sp>
      <p:sp>
        <p:nvSpPr>
          <p:cNvPr id="14" name="Target box Amazon Bedrock"/>
          <p:cNvSpPr/>
          <p:nvPr/>
        </p:nvSpPr>
        <p:spPr>
          <a:xfrm>
            <a:off x="6903720" y="1097280"/>
            <a:ext cx="1783080" cy="1051560"/>
          </a:xfrm>
          <a:prstGeom prst="roundRect">
            <a:avLst>
              <a:gd name="adj" fmla="val 6957"/>
            </a:avLst>
          </a:prstGeom>
          <a:solidFill>
            <a:schemeClr val="accent1"/>
          </a:solidFill>
          <a:ln w="12700">
            <a:solidFill>
              <a:schemeClr val="accent1"/>
            </a:solidFill>
            <a:prstDash val="solid"/>
          </a:ln>
        </p:spPr>
      </p:sp>
      <p:sp>
        <p:nvSpPr>
          <p:cNvPr id="15" name="Target text Amazon Bedrock"/>
          <p:cNvSpPr txBox="1"/>
          <p:nvPr/>
        </p:nvSpPr>
        <p:spPr>
          <a:xfrm>
            <a:off x="6967728" y="1143000"/>
            <a:ext cx="1655064" cy="960120"/>
          </a:xfrm>
          <a:prstGeom prst="rect">
            <a:avLst/>
          </a:prstGeom>
          <a:noFill/>
          <a:ln/>
        </p:spPr>
        <p:txBody>
          <a:bodyPr wrap="square" lIns="0" tIns="0" rIns="0" bIns="0" rtlCol="0" anchor="ctr"/>
          <a:lstStyle/>
          <a:p>
            <a:pPr algn="ctr" indent="0" marL="0">
              <a:buNone/>
            </a:pPr>
            <a:r>
              <a:rPr lang="en-US" sz="1300" b="1" dirty="0">
                <a:solidFill>
                  <a:schemeClr val="bg1"/>
                </a:solidFill>
              </a:rPr>
              <a:t>Amazon Bedrock</a:t>
            </a:r>
            <a:endParaRPr lang="en-US" sz="1300" dirty="0"/>
          </a:p>
          <a:p>
            <a:pPr algn="ctr" indent="0" marL="0">
              <a:buNone/>
            </a:pPr>
            <a:r>
              <a:rPr lang="en-US" sz="1000" dirty="0">
                <a:solidFill>
                  <a:schemeClr val="bg1"/>
                </a:solidFill>
              </a:rPr>
              <a:t>Claude Haiku 4.5, Titan Embeddings V2, Guardrail</a:t>
            </a:r>
            <a:endParaRPr lang="en-US" sz="1300" dirty="0"/>
          </a:p>
        </p:txBody>
      </p:sp>
      <p:sp>
        <p:nvSpPr>
          <p:cNvPr id="16" name="Target box Aurora Serverless v2"/>
          <p:cNvSpPr/>
          <p:nvPr/>
        </p:nvSpPr>
        <p:spPr>
          <a:xfrm>
            <a:off x="6903720" y="2286000"/>
            <a:ext cx="1783080" cy="1051560"/>
          </a:xfrm>
          <a:prstGeom prst="roundRect">
            <a:avLst>
              <a:gd name="adj" fmla="val 6957"/>
            </a:avLst>
          </a:prstGeom>
          <a:solidFill>
            <a:schemeClr val="accent1"/>
          </a:solidFill>
          <a:ln w="12700">
            <a:solidFill>
              <a:schemeClr val="accent1"/>
            </a:solidFill>
            <a:prstDash val="solid"/>
          </a:ln>
        </p:spPr>
      </p:sp>
      <p:sp>
        <p:nvSpPr>
          <p:cNvPr id="17" name="Target text Aurora Serverless v2"/>
          <p:cNvSpPr txBox="1"/>
          <p:nvPr/>
        </p:nvSpPr>
        <p:spPr>
          <a:xfrm>
            <a:off x="6967728" y="2331720"/>
            <a:ext cx="1655064" cy="960120"/>
          </a:xfrm>
          <a:prstGeom prst="rect">
            <a:avLst/>
          </a:prstGeom>
          <a:noFill/>
          <a:ln/>
        </p:spPr>
        <p:txBody>
          <a:bodyPr wrap="square" lIns="0" tIns="0" rIns="0" bIns="0" rtlCol="0" anchor="ctr"/>
          <a:lstStyle/>
          <a:p>
            <a:pPr algn="ctr" indent="0" marL="0">
              <a:buNone/>
            </a:pPr>
            <a:r>
              <a:rPr lang="en-US" sz="1300" b="1" dirty="0">
                <a:solidFill>
                  <a:schemeClr val="bg1"/>
                </a:solidFill>
              </a:rPr>
              <a:t>Aurora Serverless v2</a:t>
            </a:r>
            <a:endParaRPr lang="en-US" sz="1300" dirty="0"/>
          </a:p>
          <a:p>
            <a:pPr algn="ctr" indent="0" marL="0">
              <a:buNone/>
            </a:pPr>
            <a:r>
              <a:rPr lang="en-US" sz="1000" dirty="0">
                <a:solidFill>
                  <a:schemeClr val="bg1"/>
                </a:solidFill>
              </a:rPr>
              <a:t>PostgreSQL + pgvector via RDS Data API</a:t>
            </a:r>
            <a:endParaRPr lang="en-US" sz="1300" dirty="0"/>
          </a:p>
        </p:txBody>
      </p:sp>
      <p:sp>
        <p:nvSpPr>
          <p:cNvPr id="18" name="Arrow to Bedrock"/>
          <p:cNvSpPr/>
          <p:nvPr/>
        </p:nvSpPr>
        <p:spPr>
          <a:xfrm flipV="1">
            <a:off x="6510528" y="1627632"/>
            <a:ext cx="365760" cy="265176"/>
          </a:xfrm>
          <a:prstGeom prst="line">
            <a:avLst/>
          </a:prstGeom>
          <a:noFill/>
          <a:ln w="25400">
            <a:solidFill>
              <a:schemeClr val="accent1"/>
            </a:solidFill>
            <a:prstDash val="solid"/>
            <a:tailEnd type="triangle"/>
          </a:ln>
        </p:spPr>
      </p:sp>
      <p:sp>
        <p:nvSpPr>
          <p:cNvPr id="19" name="Arrow to Aurora"/>
          <p:cNvSpPr/>
          <p:nvPr/>
        </p:nvSpPr>
        <p:spPr>
          <a:xfrm>
            <a:off x="6510528" y="1901952"/>
            <a:ext cx="365760" cy="868680"/>
          </a:xfrm>
          <a:prstGeom prst="line">
            <a:avLst/>
          </a:prstGeom>
          <a:noFill/>
          <a:ln w="25400">
            <a:solidFill>
              <a:schemeClr val="accent1"/>
            </a:solidFill>
            <a:prstDash val="solid"/>
            <a:tailEnd type="triangle"/>
          </a:ln>
        </p:spPr>
      </p:sp>
      <p:sp>
        <p:nvSpPr>
          <p:cNvPr id="20" name="Fact card 1"/>
          <p:cNvSpPr/>
          <p:nvPr/>
        </p:nvSpPr>
        <p:spPr>
          <a:xfrm>
            <a:off x="457200" y="3657600"/>
            <a:ext cx="2651760" cy="868680"/>
          </a:xfrm>
          <a:prstGeom prst="roundRect">
            <a:avLst>
              <a:gd name="adj" fmla="val 8421"/>
            </a:avLst>
          </a:prstGeom>
          <a:solidFill>
            <a:schemeClr val="bg2"/>
          </a:solidFill>
          <a:ln w="12700">
            <a:solidFill>
              <a:schemeClr val="bg2"/>
            </a:solidFill>
            <a:prstDash val="solid"/>
          </a:ln>
        </p:spPr>
      </p:sp>
      <p:sp>
        <p:nvSpPr>
          <p:cNvPr id="21" name="Fact 1 circle"/>
          <p:cNvSpPr/>
          <p:nvPr/>
        </p:nvSpPr>
        <p:spPr>
          <a:xfrm>
            <a:off x="594360" y="3840480"/>
            <a:ext cx="502920" cy="502920"/>
          </a:xfrm>
          <a:prstGeom prst="ellipse">
            <a:avLst/>
          </a:prstGeom>
          <a:solidFill>
            <a:schemeClr val="accent5"/>
          </a:solidFill>
          <a:ln w="12700">
            <a:solidFill>
              <a:schemeClr val="accent5"/>
            </a:solidFill>
            <a:prstDash val="solid"/>
          </a:ln>
        </p:spPr>
      </p:sp>
      <p:pic>
        <p:nvPicPr>
          <p:cNvPr id="22" name="Fact 1 icon" descr="Fact 1">    </p:cNvPr>
          <p:cNvPicPr>
            <a:picLocks noChangeAspect="1"/>
          </p:cNvPicPr>
          <p:nvPr/>
        </p:nvPicPr>
        <p:blipFill>
          <a:blip r:embed="rId1"/>
          <a:stretch>
            <a:fillRect/>
          </a:stretch>
        </p:blipFill>
        <p:spPr>
          <a:xfrm>
            <a:off x="720090" y="3966210"/>
            <a:ext cx="251460" cy="251460"/>
          </a:xfrm>
          <a:prstGeom prst="rect">
            <a:avLst/>
          </a:prstGeom>
        </p:spPr>
      </p:pic>
      <p:sp>
        <p:nvSpPr>
          <p:cNvPr id="23" name="Fact text 1"/>
          <p:cNvSpPr txBox="1"/>
          <p:nvPr/>
        </p:nvSpPr>
        <p:spPr>
          <a:xfrm>
            <a:off x="1234440" y="3703320"/>
            <a:ext cx="1783080" cy="777240"/>
          </a:xfrm>
          <a:prstGeom prst="rect">
            <a:avLst/>
          </a:prstGeom>
          <a:noFill/>
          <a:ln/>
        </p:spPr>
        <p:txBody>
          <a:bodyPr wrap="square" lIns="0" tIns="0" rIns="0" bIns="0" rtlCol="0" anchor="ctr"/>
          <a:lstStyle/>
          <a:p>
            <a:pPr indent="0" marL="0">
              <a:buNone/>
            </a:pPr>
            <a:r>
              <a:rPr lang="en-US" sz="1200" dirty="0">
                <a:solidFill>
                  <a:schemeClr val="tx1"/>
                </a:solidFill>
              </a:rPr>
              <a:t>us-east-1, one CloudFormation stack (CirohStack)</a:t>
            </a:r>
            <a:endParaRPr lang="en-US" sz="1200" dirty="0"/>
          </a:p>
        </p:txBody>
      </p:sp>
      <p:sp>
        <p:nvSpPr>
          <p:cNvPr id="24" name="Fact card 2"/>
          <p:cNvSpPr/>
          <p:nvPr/>
        </p:nvSpPr>
        <p:spPr>
          <a:xfrm>
            <a:off x="3246120" y="3657600"/>
            <a:ext cx="2651760" cy="868680"/>
          </a:xfrm>
          <a:prstGeom prst="roundRect">
            <a:avLst>
              <a:gd name="adj" fmla="val 8421"/>
            </a:avLst>
          </a:prstGeom>
          <a:solidFill>
            <a:schemeClr val="bg2"/>
          </a:solidFill>
          <a:ln w="12700">
            <a:solidFill>
              <a:schemeClr val="bg2"/>
            </a:solidFill>
            <a:prstDash val="solid"/>
          </a:ln>
        </p:spPr>
      </p:sp>
      <p:sp>
        <p:nvSpPr>
          <p:cNvPr id="25" name="Fact 2 circle"/>
          <p:cNvSpPr/>
          <p:nvPr/>
        </p:nvSpPr>
        <p:spPr>
          <a:xfrm>
            <a:off x="3383280" y="3840480"/>
            <a:ext cx="502920" cy="502920"/>
          </a:xfrm>
          <a:prstGeom prst="ellipse">
            <a:avLst/>
          </a:prstGeom>
          <a:solidFill>
            <a:schemeClr val="accent5"/>
          </a:solidFill>
          <a:ln w="12700">
            <a:solidFill>
              <a:schemeClr val="accent5"/>
            </a:solidFill>
            <a:prstDash val="solid"/>
          </a:ln>
        </p:spPr>
      </p:sp>
      <p:pic>
        <p:nvPicPr>
          <p:cNvPr id="26" name="Fact 2 icon" descr="Fact 2">    </p:cNvPr>
          <p:cNvPicPr>
            <a:picLocks noChangeAspect="1"/>
          </p:cNvPicPr>
          <p:nvPr/>
        </p:nvPicPr>
        <p:blipFill>
          <a:blip r:embed="rId2"/>
          <a:stretch>
            <a:fillRect/>
          </a:stretch>
        </p:blipFill>
        <p:spPr>
          <a:xfrm>
            <a:off x="3509010" y="3966210"/>
            <a:ext cx="251460" cy="251460"/>
          </a:xfrm>
          <a:prstGeom prst="rect">
            <a:avLst/>
          </a:prstGeom>
        </p:spPr>
      </p:pic>
      <p:sp>
        <p:nvSpPr>
          <p:cNvPr id="27" name="Fact text 2"/>
          <p:cNvSpPr txBox="1"/>
          <p:nvPr/>
        </p:nvSpPr>
        <p:spPr>
          <a:xfrm>
            <a:off x="4023360" y="3703320"/>
            <a:ext cx="1783080" cy="777240"/>
          </a:xfrm>
          <a:prstGeom prst="rect">
            <a:avLst/>
          </a:prstGeom>
          <a:noFill/>
          <a:ln/>
        </p:spPr>
        <p:txBody>
          <a:bodyPr wrap="square" lIns="0" tIns="0" rIns="0" bIns="0" rtlCol="0" anchor="ctr"/>
          <a:lstStyle/>
          <a:p>
            <a:pPr indent="0" marL="0">
              <a:buNone/>
            </a:pPr>
            <a:r>
              <a:rPr lang="en-US" sz="1200" dirty="0">
                <a:solidFill>
                  <a:schemeClr val="tx1"/>
                </a:solidFill>
              </a:rPr>
              <a:t>Deployed with AWS CDK from CloudShell, no local keys</a:t>
            </a:r>
            <a:endParaRPr lang="en-US" sz="1200" dirty="0"/>
          </a:p>
        </p:txBody>
      </p:sp>
      <p:sp>
        <p:nvSpPr>
          <p:cNvPr id="28" name="Fact card 3"/>
          <p:cNvSpPr/>
          <p:nvPr/>
        </p:nvSpPr>
        <p:spPr>
          <a:xfrm>
            <a:off x="6035040" y="3657600"/>
            <a:ext cx="2651760" cy="868680"/>
          </a:xfrm>
          <a:prstGeom prst="roundRect">
            <a:avLst>
              <a:gd name="adj" fmla="val 8421"/>
            </a:avLst>
          </a:prstGeom>
          <a:solidFill>
            <a:schemeClr val="bg2"/>
          </a:solidFill>
          <a:ln w="12700">
            <a:solidFill>
              <a:schemeClr val="bg2"/>
            </a:solidFill>
            <a:prstDash val="solid"/>
          </a:ln>
        </p:spPr>
      </p:sp>
      <p:sp>
        <p:nvSpPr>
          <p:cNvPr id="29" name="Fact 3 circle"/>
          <p:cNvSpPr/>
          <p:nvPr/>
        </p:nvSpPr>
        <p:spPr>
          <a:xfrm>
            <a:off x="6172200" y="3840480"/>
            <a:ext cx="502920" cy="502920"/>
          </a:xfrm>
          <a:prstGeom prst="ellipse">
            <a:avLst/>
          </a:prstGeom>
          <a:solidFill>
            <a:schemeClr val="accent5"/>
          </a:solidFill>
          <a:ln w="12700">
            <a:solidFill>
              <a:schemeClr val="accent5"/>
            </a:solidFill>
            <a:prstDash val="solid"/>
          </a:ln>
        </p:spPr>
      </p:sp>
      <p:pic>
        <p:nvPicPr>
          <p:cNvPr id="30" name="Fact 3 icon" descr="Fact 3">    </p:cNvPr>
          <p:cNvPicPr>
            <a:picLocks noChangeAspect="1"/>
          </p:cNvPicPr>
          <p:nvPr/>
        </p:nvPicPr>
        <p:blipFill>
          <a:blip r:embed="rId3"/>
          <a:stretch>
            <a:fillRect/>
          </a:stretch>
        </p:blipFill>
        <p:spPr>
          <a:xfrm>
            <a:off x="6297930" y="3966210"/>
            <a:ext cx="251460" cy="251460"/>
          </a:xfrm>
          <a:prstGeom prst="rect">
            <a:avLst/>
          </a:prstGeom>
        </p:spPr>
      </p:pic>
      <p:sp>
        <p:nvSpPr>
          <p:cNvPr id="31" name="Fact text 3"/>
          <p:cNvSpPr txBox="1"/>
          <p:nvPr/>
        </p:nvSpPr>
        <p:spPr>
          <a:xfrm>
            <a:off x="6812280" y="3703320"/>
            <a:ext cx="1783080" cy="777240"/>
          </a:xfrm>
          <a:prstGeom prst="rect">
            <a:avLst/>
          </a:prstGeom>
          <a:noFill/>
          <a:ln/>
        </p:spPr>
        <p:txBody>
          <a:bodyPr wrap="square" lIns="0" tIns="0" rIns="0" bIns="0" rtlCol="0" anchor="ctr"/>
          <a:lstStyle/>
          <a:p>
            <a:pPr indent="0" marL="0">
              <a:buNone/>
            </a:pPr>
            <a:r>
              <a:rPr lang="en-US" sz="1200" dirty="0">
                <a:solidFill>
                  <a:schemeClr val="tx1"/>
                </a:solidFill>
              </a:rPr>
              <a:t>Idle parts scale to zero (database pauses)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Done: infrastructure and access</a:t>
            </a:r>
            <a:endParaRPr lang="en-US" sz="3000" dirty="0"/>
          </a:p>
        </p:txBody>
      </p:sp>
      <p:sp>
        <p:nvSpPr>
          <p:cNvPr id="3" name="Column header Infrastructure"/>
          <p:cNvSpPr txBox="1"/>
          <p:nvPr/>
        </p:nvSpPr>
        <p:spPr>
          <a:xfrm>
            <a:off x="457200" y="1097280"/>
            <a:ext cx="3931920" cy="411480"/>
          </a:xfrm>
          <a:prstGeom prst="rect">
            <a:avLst/>
          </a:prstGeom>
          <a:noFill/>
          <a:ln/>
        </p:spPr>
        <p:txBody>
          <a:bodyPr wrap="square" lIns="0" tIns="0" rIns="0" bIns="0" rtlCol="0" anchor="ctr"/>
          <a:lstStyle/>
          <a:p>
            <a:pPr indent="0" marL="0">
              <a:buNone/>
            </a:pPr>
            <a:r>
              <a:rPr lang="en-US" sz="2000" b="1" dirty="0">
                <a:solidFill>
                  <a:schemeClr val="tx2"/>
                </a:solidFill>
              </a:rPr>
              <a:t>Infrastructure</a:t>
            </a:r>
            <a:endParaRPr lang="en-US" sz="2000" dirty="0"/>
          </a:p>
        </p:txBody>
      </p:sp>
      <p:sp>
        <p:nvSpPr>
          <p:cNvPr id="4" name="Infrastructure item 1 circle"/>
          <p:cNvSpPr/>
          <p:nvPr/>
        </p:nvSpPr>
        <p:spPr>
          <a:xfrm>
            <a:off x="457200" y="1682496"/>
            <a:ext cx="347472" cy="347472"/>
          </a:xfrm>
          <a:prstGeom prst="ellipse">
            <a:avLst/>
          </a:prstGeom>
          <a:solidFill>
            <a:schemeClr val="accent2"/>
          </a:solidFill>
          <a:ln w="12700">
            <a:solidFill>
              <a:schemeClr val="accent2"/>
            </a:solidFill>
            <a:prstDash val="solid"/>
          </a:ln>
        </p:spPr>
      </p:sp>
      <p:pic>
        <p:nvPicPr>
          <p:cNvPr id="5" name="Infrastructure item 1 icon" descr="Infrastructure item 1">    </p:cNvPr>
          <p:cNvPicPr>
            <a:picLocks noChangeAspect="1"/>
          </p:cNvPicPr>
          <p:nvPr/>
        </p:nvPicPr>
        <p:blipFill>
          <a:blip r:embed="rId1"/>
          <a:stretch>
            <a:fillRect/>
          </a:stretch>
        </p:blipFill>
        <p:spPr>
          <a:xfrm>
            <a:off x="544068" y="1769364"/>
            <a:ext cx="173736" cy="173736"/>
          </a:xfrm>
          <a:prstGeom prst="rect">
            <a:avLst/>
          </a:prstGeom>
        </p:spPr>
      </p:pic>
      <p:sp>
        <p:nvSpPr>
          <p:cNvPr id="6" name="Infrastructure text 1"/>
          <p:cNvSpPr txBox="1"/>
          <p:nvPr/>
        </p:nvSpPr>
        <p:spPr>
          <a:xfrm>
            <a:off x="960120" y="1645920"/>
            <a:ext cx="3520440" cy="420624"/>
          </a:xfrm>
          <a:prstGeom prst="rect">
            <a:avLst/>
          </a:prstGeom>
          <a:noFill/>
          <a:ln/>
        </p:spPr>
        <p:txBody>
          <a:bodyPr wrap="square" lIns="0" tIns="0" rIns="0" bIns="0" rtlCol="0" anchor="ctr"/>
          <a:lstStyle/>
          <a:p>
            <a:pPr indent="0" marL="0">
              <a:buNone/>
            </a:pPr>
            <a:r>
              <a:rPr lang="en-US" sz="1500" dirty="0">
                <a:solidFill>
                  <a:schemeClr val="tx1"/>
                </a:solidFill>
              </a:rPr>
              <a:t>CDK bootstrapped in us-east-1</a:t>
            </a:r>
            <a:endParaRPr lang="en-US" sz="1500" dirty="0"/>
          </a:p>
        </p:txBody>
      </p:sp>
      <p:sp>
        <p:nvSpPr>
          <p:cNvPr id="7" name="Infrastructure item 2 circle"/>
          <p:cNvSpPr/>
          <p:nvPr/>
        </p:nvSpPr>
        <p:spPr>
          <a:xfrm>
            <a:off x="457200" y="2267712"/>
            <a:ext cx="347472" cy="347472"/>
          </a:xfrm>
          <a:prstGeom prst="ellipse">
            <a:avLst/>
          </a:prstGeom>
          <a:solidFill>
            <a:schemeClr val="accent2"/>
          </a:solidFill>
          <a:ln w="12700">
            <a:solidFill>
              <a:schemeClr val="accent2"/>
            </a:solidFill>
            <a:prstDash val="solid"/>
          </a:ln>
        </p:spPr>
      </p:sp>
      <p:pic>
        <p:nvPicPr>
          <p:cNvPr id="8" name="Infrastructure item 2 icon" descr="Infrastructure item 2">    </p:cNvPr>
          <p:cNvPicPr>
            <a:picLocks noChangeAspect="1"/>
          </p:cNvPicPr>
          <p:nvPr/>
        </p:nvPicPr>
        <p:blipFill>
          <a:blip r:embed="rId2"/>
          <a:stretch>
            <a:fillRect/>
          </a:stretch>
        </p:blipFill>
        <p:spPr>
          <a:xfrm>
            <a:off x="544068" y="2354580"/>
            <a:ext cx="173736" cy="173736"/>
          </a:xfrm>
          <a:prstGeom prst="rect">
            <a:avLst/>
          </a:prstGeom>
        </p:spPr>
      </p:pic>
      <p:sp>
        <p:nvSpPr>
          <p:cNvPr id="9" name="Infrastructure text 2"/>
          <p:cNvSpPr txBox="1"/>
          <p:nvPr/>
        </p:nvSpPr>
        <p:spPr>
          <a:xfrm>
            <a:off x="960120" y="2231136"/>
            <a:ext cx="3520440" cy="420624"/>
          </a:xfrm>
          <a:prstGeom prst="rect">
            <a:avLst/>
          </a:prstGeom>
          <a:noFill/>
          <a:ln/>
        </p:spPr>
        <p:txBody>
          <a:bodyPr wrap="square" lIns="0" tIns="0" rIns="0" bIns="0" rtlCol="0" anchor="ctr"/>
          <a:lstStyle/>
          <a:p>
            <a:pPr indent="0" marL="0">
              <a:buNone/>
            </a:pPr>
            <a:r>
              <a:rPr lang="en-US" sz="1500" dirty="0">
                <a:solidFill>
                  <a:schemeClr val="tx1"/>
                </a:solidFill>
              </a:rPr>
              <a:t>CirohStack deployed: 58 resources</a:t>
            </a:r>
            <a:endParaRPr lang="en-US" sz="1500" dirty="0"/>
          </a:p>
        </p:txBody>
      </p:sp>
      <p:sp>
        <p:nvSpPr>
          <p:cNvPr id="10" name="Infrastructure item 3 circle"/>
          <p:cNvSpPr/>
          <p:nvPr/>
        </p:nvSpPr>
        <p:spPr>
          <a:xfrm>
            <a:off x="457200" y="2852928"/>
            <a:ext cx="347472" cy="347472"/>
          </a:xfrm>
          <a:prstGeom prst="ellipse">
            <a:avLst/>
          </a:prstGeom>
          <a:solidFill>
            <a:schemeClr val="accent2"/>
          </a:solidFill>
          <a:ln w="12700">
            <a:solidFill>
              <a:schemeClr val="accent2"/>
            </a:solidFill>
            <a:prstDash val="solid"/>
          </a:ln>
        </p:spPr>
      </p:sp>
      <p:pic>
        <p:nvPicPr>
          <p:cNvPr id="11" name="Infrastructure item 3 icon" descr="Infrastructure item 3">    </p:cNvPr>
          <p:cNvPicPr>
            <a:picLocks noChangeAspect="1"/>
          </p:cNvPicPr>
          <p:nvPr/>
        </p:nvPicPr>
        <p:blipFill>
          <a:blip r:embed="rId3"/>
          <a:stretch>
            <a:fillRect/>
          </a:stretch>
        </p:blipFill>
        <p:spPr>
          <a:xfrm>
            <a:off x="544068" y="2939796"/>
            <a:ext cx="173736" cy="173736"/>
          </a:xfrm>
          <a:prstGeom prst="rect">
            <a:avLst/>
          </a:prstGeom>
        </p:spPr>
      </p:pic>
      <p:sp>
        <p:nvSpPr>
          <p:cNvPr id="12" name="Infrastructure text 3"/>
          <p:cNvSpPr txBox="1"/>
          <p:nvPr/>
        </p:nvSpPr>
        <p:spPr>
          <a:xfrm>
            <a:off x="960120" y="2816352"/>
            <a:ext cx="3520440" cy="420624"/>
          </a:xfrm>
          <a:prstGeom prst="rect">
            <a:avLst/>
          </a:prstGeom>
          <a:noFill/>
          <a:ln/>
        </p:spPr>
        <p:txBody>
          <a:bodyPr wrap="square" lIns="0" tIns="0" rIns="0" bIns="0" rtlCol="0" anchor="ctr"/>
          <a:lstStyle/>
          <a:p>
            <a:pPr indent="0" marL="0">
              <a:buNone/>
            </a:pPr>
            <a:r>
              <a:rPr lang="en-US" sz="1500" dirty="0">
                <a:solidFill>
                  <a:schemeClr val="tx1"/>
                </a:solidFill>
              </a:rPr>
              <a:t>WAF rate limit + AWS managed rules</a:t>
            </a:r>
            <a:endParaRPr lang="en-US" sz="1500" dirty="0"/>
          </a:p>
        </p:txBody>
      </p:sp>
      <p:sp>
        <p:nvSpPr>
          <p:cNvPr id="13" name="Infrastructure item 4 circle"/>
          <p:cNvSpPr/>
          <p:nvPr/>
        </p:nvSpPr>
        <p:spPr>
          <a:xfrm>
            <a:off x="457200" y="3438144"/>
            <a:ext cx="347472" cy="347472"/>
          </a:xfrm>
          <a:prstGeom prst="ellipse">
            <a:avLst/>
          </a:prstGeom>
          <a:solidFill>
            <a:schemeClr val="accent2"/>
          </a:solidFill>
          <a:ln w="12700">
            <a:solidFill>
              <a:schemeClr val="accent2"/>
            </a:solidFill>
            <a:prstDash val="solid"/>
          </a:ln>
        </p:spPr>
      </p:sp>
      <p:pic>
        <p:nvPicPr>
          <p:cNvPr id="14" name="Infrastructure item 4 icon" descr="Infrastructure item 4">    </p:cNvPr>
          <p:cNvPicPr>
            <a:picLocks noChangeAspect="1"/>
          </p:cNvPicPr>
          <p:nvPr/>
        </p:nvPicPr>
        <p:blipFill>
          <a:blip r:embed="rId4"/>
          <a:stretch>
            <a:fillRect/>
          </a:stretch>
        </p:blipFill>
        <p:spPr>
          <a:xfrm>
            <a:off x="544068" y="3525012"/>
            <a:ext cx="173736" cy="173736"/>
          </a:xfrm>
          <a:prstGeom prst="rect">
            <a:avLst/>
          </a:prstGeom>
        </p:spPr>
      </p:pic>
      <p:sp>
        <p:nvSpPr>
          <p:cNvPr id="15" name="Infrastructure text 4"/>
          <p:cNvSpPr txBox="1"/>
          <p:nvPr/>
        </p:nvSpPr>
        <p:spPr>
          <a:xfrm>
            <a:off x="960120" y="3401568"/>
            <a:ext cx="3520440" cy="420624"/>
          </a:xfrm>
          <a:prstGeom prst="rect">
            <a:avLst/>
          </a:prstGeom>
          <a:noFill/>
          <a:ln/>
        </p:spPr>
        <p:txBody>
          <a:bodyPr wrap="square" lIns="0" tIns="0" rIns="0" bIns="0" rtlCol="0" anchor="ctr"/>
          <a:lstStyle/>
          <a:p>
            <a:pPr indent="0" marL="0">
              <a:buNone/>
            </a:pPr>
            <a:r>
              <a:rPr lang="en-US" sz="1500" dirty="0">
                <a:solidFill>
                  <a:schemeClr val="tx1"/>
                </a:solidFill>
              </a:rPr>
              <a:t>Bedrock guardrail for off-topic requests</a:t>
            </a:r>
            <a:endParaRPr lang="en-US" sz="1500" dirty="0"/>
          </a:p>
        </p:txBody>
      </p:sp>
      <p:sp>
        <p:nvSpPr>
          <p:cNvPr id="16" name="Infrastructure item 5 circle"/>
          <p:cNvSpPr/>
          <p:nvPr/>
        </p:nvSpPr>
        <p:spPr>
          <a:xfrm>
            <a:off x="457200" y="4023360"/>
            <a:ext cx="347472" cy="347472"/>
          </a:xfrm>
          <a:prstGeom prst="ellipse">
            <a:avLst/>
          </a:prstGeom>
          <a:solidFill>
            <a:schemeClr val="accent2"/>
          </a:solidFill>
          <a:ln w="12700">
            <a:solidFill>
              <a:schemeClr val="accent2"/>
            </a:solidFill>
            <a:prstDash val="solid"/>
          </a:ln>
        </p:spPr>
      </p:sp>
      <p:pic>
        <p:nvPicPr>
          <p:cNvPr id="17" name="Infrastructure item 5 icon" descr="Infrastructure item 5">    </p:cNvPr>
          <p:cNvPicPr>
            <a:picLocks noChangeAspect="1"/>
          </p:cNvPicPr>
          <p:nvPr/>
        </p:nvPicPr>
        <p:blipFill>
          <a:blip r:embed="rId5"/>
          <a:stretch>
            <a:fillRect/>
          </a:stretch>
        </p:blipFill>
        <p:spPr>
          <a:xfrm>
            <a:off x="544068" y="4110228"/>
            <a:ext cx="173736" cy="173736"/>
          </a:xfrm>
          <a:prstGeom prst="rect">
            <a:avLst/>
          </a:prstGeom>
        </p:spPr>
      </p:pic>
      <p:sp>
        <p:nvSpPr>
          <p:cNvPr id="18" name="Infrastructure text 5"/>
          <p:cNvSpPr txBox="1"/>
          <p:nvPr/>
        </p:nvSpPr>
        <p:spPr>
          <a:xfrm>
            <a:off x="960120" y="3986784"/>
            <a:ext cx="3520440" cy="420624"/>
          </a:xfrm>
          <a:prstGeom prst="rect">
            <a:avLst/>
          </a:prstGeom>
          <a:noFill/>
          <a:ln/>
        </p:spPr>
        <p:txBody>
          <a:bodyPr wrap="square" lIns="0" tIns="0" rIns="0" bIns="0" rtlCol="0" anchor="ctr"/>
          <a:lstStyle/>
          <a:p>
            <a:pPr indent="0" marL="0">
              <a:buNone/>
            </a:pPr>
            <a:r>
              <a:rPr lang="en-US" sz="1500" dirty="0">
                <a:solidFill>
                  <a:schemeClr val="tx1"/>
                </a:solidFill>
              </a:rPr>
              <a:t>Budgets ($60/mo) + email alerts</a:t>
            </a:r>
            <a:endParaRPr lang="en-US" sz="1500" dirty="0"/>
          </a:p>
        </p:txBody>
      </p:sp>
      <p:sp>
        <p:nvSpPr>
          <p:cNvPr id="19" name="Column header Access and documentation"/>
          <p:cNvSpPr txBox="1"/>
          <p:nvPr/>
        </p:nvSpPr>
        <p:spPr>
          <a:xfrm>
            <a:off x="4663440" y="1097280"/>
            <a:ext cx="3931920" cy="411480"/>
          </a:xfrm>
          <a:prstGeom prst="rect">
            <a:avLst/>
          </a:prstGeom>
          <a:noFill/>
          <a:ln/>
        </p:spPr>
        <p:txBody>
          <a:bodyPr wrap="square" lIns="0" tIns="0" rIns="0" bIns="0" rtlCol="0" anchor="ctr"/>
          <a:lstStyle/>
          <a:p>
            <a:pPr indent="0" marL="0">
              <a:buNone/>
            </a:pPr>
            <a:r>
              <a:rPr lang="en-US" sz="2000" b="1" dirty="0">
                <a:solidFill>
                  <a:schemeClr val="tx2"/>
                </a:solidFill>
              </a:rPr>
              <a:t>Access and documentation</a:t>
            </a:r>
            <a:endParaRPr lang="en-US" sz="2000" dirty="0"/>
          </a:p>
        </p:txBody>
      </p:sp>
      <p:sp>
        <p:nvSpPr>
          <p:cNvPr id="20" name="Access and documentation item 1 circle"/>
          <p:cNvSpPr/>
          <p:nvPr/>
        </p:nvSpPr>
        <p:spPr>
          <a:xfrm>
            <a:off x="4663440" y="1682496"/>
            <a:ext cx="347472" cy="347472"/>
          </a:xfrm>
          <a:prstGeom prst="ellipse">
            <a:avLst/>
          </a:prstGeom>
          <a:solidFill>
            <a:schemeClr val="accent2"/>
          </a:solidFill>
          <a:ln w="12700">
            <a:solidFill>
              <a:schemeClr val="accent2"/>
            </a:solidFill>
            <a:prstDash val="solid"/>
          </a:ln>
        </p:spPr>
      </p:sp>
      <p:pic>
        <p:nvPicPr>
          <p:cNvPr id="21" name="Access and documentation item 1 icon" descr="Access and documentation item 1">    </p:cNvPr>
          <p:cNvPicPr>
            <a:picLocks noChangeAspect="1"/>
          </p:cNvPicPr>
          <p:nvPr/>
        </p:nvPicPr>
        <p:blipFill>
          <a:blip r:embed="rId6"/>
          <a:stretch>
            <a:fillRect/>
          </a:stretch>
        </p:blipFill>
        <p:spPr>
          <a:xfrm>
            <a:off x="4750308" y="1769364"/>
            <a:ext cx="173736" cy="173736"/>
          </a:xfrm>
          <a:prstGeom prst="rect">
            <a:avLst/>
          </a:prstGeom>
        </p:spPr>
      </p:pic>
      <p:sp>
        <p:nvSpPr>
          <p:cNvPr id="22" name="Access and documentation text 1"/>
          <p:cNvSpPr txBox="1"/>
          <p:nvPr/>
        </p:nvSpPr>
        <p:spPr>
          <a:xfrm>
            <a:off x="5166360" y="1645920"/>
            <a:ext cx="3520440" cy="420624"/>
          </a:xfrm>
          <a:prstGeom prst="rect">
            <a:avLst/>
          </a:prstGeom>
          <a:noFill/>
          <a:ln/>
        </p:spPr>
        <p:txBody>
          <a:bodyPr wrap="square" lIns="0" tIns="0" rIns="0" bIns="0" rtlCol="0" anchor="ctr"/>
          <a:lstStyle/>
          <a:p>
            <a:pPr indent="0" marL="0">
              <a:buNone/>
            </a:pPr>
            <a:r>
              <a:rPr lang="en-US" sz="1500" dirty="0">
                <a:solidFill>
                  <a:schemeClr val="tx1"/>
                </a:solidFill>
              </a:rPr>
              <a:t>Deploy path that needs only console login</a:t>
            </a:r>
            <a:endParaRPr lang="en-US" sz="1500" dirty="0"/>
          </a:p>
        </p:txBody>
      </p:sp>
      <p:sp>
        <p:nvSpPr>
          <p:cNvPr id="23" name="Access and documentation item 2 circle"/>
          <p:cNvSpPr/>
          <p:nvPr/>
        </p:nvSpPr>
        <p:spPr>
          <a:xfrm>
            <a:off x="4663440" y="2267712"/>
            <a:ext cx="347472" cy="347472"/>
          </a:xfrm>
          <a:prstGeom prst="ellipse">
            <a:avLst/>
          </a:prstGeom>
          <a:solidFill>
            <a:schemeClr val="accent2"/>
          </a:solidFill>
          <a:ln w="12700">
            <a:solidFill>
              <a:schemeClr val="accent2"/>
            </a:solidFill>
            <a:prstDash val="solid"/>
          </a:ln>
        </p:spPr>
      </p:sp>
      <p:pic>
        <p:nvPicPr>
          <p:cNvPr id="24" name="Access and documentation item 2 icon" descr="Access and documentation item 2">    </p:cNvPr>
          <p:cNvPicPr>
            <a:picLocks noChangeAspect="1"/>
          </p:cNvPicPr>
          <p:nvPr/>
        </p:nvPicPr>
        <p:blipFill>
          <a:blip r:embed="rId7"/>
          <a:stretch>
            <a:fillRect/>
          </a:stretch>
        </p:blipFill>
        <p:spPr>
          <a:xfrm>
            <a:off x="4750308" y="2354580"/>
            <a:ext cx="173736" cy="173736"/>
          </a:xfrm>
          <a:prstGeom prst="rect">
            <a:avLst/>
          </a:prstGeom>
        </p:spPr>
      </p:pic>
      <p:sp>
        <p:nvSpPr>
          <p:cNvPr id="25" name="Access and documentation text 2"/>
          <p:cNvSpPr txBox="1"/>
          <p:nvPr/>
        </p:nvSpPr>
        <p:spPr>
          <a:xfrm>
            <a:off x="5166360" y="2231136"/>
            <a:ext cx="3520440" cy="420624"/>
          </a:xfrm>
          <a:prstGeom prst="rect">
            <a:avLst/>
          </a:prstGeom>
          <a:noFill/>
          <a:ln/>
        </p:spPr>
        <p:txBody>
          <a:bodyPr wrap="square" lIns="0" tIns="0" rIns="0" bIns="0" rtlCol="0" anchor="ctr"/>
          <a:lstStyle/>
          <a:p>
            <a:pPr indent="0" marL="0">
              <a:buNone/>
            </a:pPr>
            <a:r>
              <a:rPr lang="en-US" sz="1500" dirty="0">
                <a:solidFill>
                  <a:schemeClr val="tx1"/>
                </a:solidFill>
              </a:rPr>
              <a:t>Claude Haiku 4.5 enabled in Bedrock</a:t>
            </a:r>
            <a:endParaRPr lang="en-US" sz="1500" dirty="0"/>
          </a:p>
        </p:txBody>
      </p:sp>
      <p:sp>
        <p:nvSpPr>
          <p:cNvPr id="26" name="Access and documentation item 3 circle"/>
          <p:cNvSpPr/>
          <p:nvPr/>
        </p:nvSpPr>
        <p:spPr>
          <a:xfrm>
            <a:off x="4663440" y="2852928"/>
            <a:ext cx="347472" cy="347472"/>
          </a:xfrm>
          <a:prstGeom prst="ellipse">
            <a:avLst/>
          </a:prstGeom>
          <a:solidFill>
            <a:schemeClr val="accent2"/>
          </a:solidFill>
          <a:ln w="12700">
            <a:solidFill>
              <a:schemeClr val="accent2"/>
            </a:solidFill>
            <a:prstDash val="solid"/>
          </a:ln>
        </p:spPr>
      </p:sp>
      <p:pic>
        <p:nvPicPr>
          <p:cNvPr id="27" name="Access and documentation item 3 icon" descr="Access and documentation item 3">    </p:cNvPr>
          <p:cNvPicPr>
            <a:picLocks noChangeAspect="1"/>
          </p:cNvPicPr>
          <p:nvPr/>
        </p:nvPicPr>
        <p:blipFill>
          <a:blip r:embed="rId8"/>
          <a:stretch>
            <a:fillRect/>
          </a:stretch>
        </p:blipFill>
        <p:spPr>
          <a:xfrm>
            <a:off x="4750308" y="2939796"/>
            <a:ext cx="173736" cy="173736"/>
          </a:xfrm>
          <a:prstGeom prst="rect">
            <a:avLst/>
          </a:prstGeom>
        </p:spPr>
      </p:pic>
      <p:sp>
        <p:nvSpPr>
          <p:cNvPr id="28" name="Access and documentation text 3"/>
          <p:cNvSpPr txBox="1"/>
          <p:nvPr/>
        </p:nvSpPr>
        <p:spPr>
          <a:xfrm>
            <a:off x="5166360" y="2816352"/>
            <a:ext cx="3520440" cy="420624"/>
          </a:xfrm>
          <a:prstGeom prst="rect">
            <a:avLst/>
          </a:prstGeom>
          <a:noFill/>
          <a:ln/>
        </p:spPr>
        <p:txBody>
          <a:bodyPr wrap="square" lIns="0" tIns="0" rIns="0" bIns="0" rtlCol="0" anchor="ctr"/>
          <a:lstStyle/>
          <a:p>
            <a:pPr indent="0" marL="0">
              <a:buNone/>
            </a:pPr>
            <a:r>
              <a:rPr lang="en-US" sz="1500" dirty="0">
                <a:solidFill>
                  <a:schemeClr val="tx1"/>
                </a:solidFill>
              </a:rPr>
              <a:t>IAM permission policies written for admins</a:t>
            </a:r>
            <a:endParaRPr lang="en-US" sz="1500" dirty="0"/>
          </a:p>
        </p:txBody>
      </p:sp>
      <p:sp>
        <p:nvSpPr>
          <p:cNvPr id="29" name="Access and documentation item 4 circle"/>
          <p:cNvSpPr/>
          <p:nvPr/>
        </p:nvSpPr>
        <p:spPr>
          <a:xfrm>
            <a:off x="4663440" y="3438144"/>
            <a:ext cx="347472" cy="347472"/>
          </a:xfrm>
          <a:prstGeom prst="ellipse">
            <a:avLst/>
          </a:prstGeom>
          <a:solidFill>
            <a:schemeClr val="accent2"/>
          </a:solidFill>
          <a:ln w="12700">
            <a:solidFill>
              <a:schemeClr val="accent2"/>
            </a:solidFill>
            <a:prstDash val="solid"/>
          </a:ln>
        </p:spPr>
      </p:sp>
      <p:pic>
        <p:nvPicPr>
          <p:cNvPr id="30" name="Access and documentation item 4 icon" descr="Access and documentation item 4">    </p:cNvPr>
          <p:cNvPicPr>
            <a:picLocks noChangeAspect="1"/>
          </p:cNvPicPr>
          <p:nvPr/>
        </p:nvPicPr>
        <p:blipFill>
          <a:blip r:embed="rId9"/>
          <a:stretch>
            <a:fillRect/>
          </a:stretch>
        </p:blipFill>
        <p:spPr>
          <a:xfrm>
            <a:off x="4750308" y="3525012"/>
            <a:ext cx="173736" cy="173736"/>
          </a:xfrm>
          <a:prstGeom prst="rect">
            <a:avLst/>
          </a:prstGeom>
        </p:spPr>
      </p:pic>
      <p:sp>
        <p:nvSpPr>
          <p:cNvPr id="31" name="Access and documentation text 4"/>
          <p:cNvSpPr txBox="1"/>
          <p:nvPr/>
        </p:nvSpPr>
        <p:spPr>
          <a:xfrm>
            <a:off x="5166360" y="3401568"/>
            <a:ext cx="3520440" cy="420624"/>
          </a:xfrm>
          <a:prstGeom prst="rect">
            <a:avLst/>
          </a:prstGeom>
          <a:noFill/>
          <a:ln/>
        </p:spPr>
        <p:txBody>
          <a:bodyPr wrap="square" lIns="0" tIns="0" rIns="0" bIns="0" rtlCol="0" anchor="ctr"/>
          <a:lstStyle/>
          <a:p>
            <a:pPr indent="0" marL="0">
              <a:buNone/>
            </a:pPr>
            <a:r>
              <a:rPr lang="en-US" sz="1500" dirty="0">
                <a:solidFill>
                  <a:schemeClr val="tx1"/>
                </a:solidFill>
              </a:rPr>
              <a:t>Beginner deployment guides (3 docs)</a:t>
            </a:r>
            <a:endParaRPr lang="en-US" sz="1500" dirty="0"/>
          </a:p>
        </p:txBody>
      </p:sp>
      <p:sp>
        <p:nvSpPr>
          <p:cNvPr id="32" name="Access and documentation item 5 circle"/>
          <p:cNvSpPr/>
          <p:nvPr/>
        </p:nvSpPr>
        <p:spPr>
          <a:xfrm>
            <a:off x="4663440" y="4023360"/>
            <a:ext cx="347472" cy="347472"/>
          </a:xfrm>
          <a:prstGeom prst="ellipse">
            <a:avLst/>
          </a:prstGeom>
          <a:solidFill>
            <a:schemeClr val="accent2"/>
          </a:solidFill>
          <a:ln w="12700">
            <a:solidFill>
              <a:schemeClr val="accent2"/>
            </a:solidFill>
            <a:prstDash val="solid"/>
          </a:ln>
        </p:spPr>
      </p:sp>
      <p:pic>
        <p:nvPicPr>
          <p:cNvPr id="33" name="Access and documentation item 5 icon" descr="Access and documentation item 5">    </p:cNvPr>
          <p:cNvPicPr>
            <a:picLocks noChangeAspect="1"/>
          </p:cNvPicPr>
          <p:nvPr/>
        </p:nvPicPr>
        <p:blipFill>
          <a:blip r:embed="rId10"/>
          <a:stretch>
            <a:fillRect/>
          </a:stretch>
        </p:blipFill>
        <p:spPr>
          <a:xfrm>
            <a:off x="4750308" y="4110228"/>
            <a:ext cx="173736" cy="173736"/>
          </a:xfrm>
          <a:prstGeom prst="rect">
            <a:avLst/>
          </a:prstGeom>
        </p:spPr>
      </p:pic>
      <p:sp>
        <p:nvSpPr>
          <p:cNvPr id="34" name="Access and documentation text 5"/>
          <p:cNvSpPr txBox="1"/>
          <p:nvPr/>
        </p:nvSpPr>
        <p:spPr>
          <a:xfrm>
            <a:off x="5166360" y="3986784"/>
            <a:ext cx="3520440" cy="420624"/>
          </a:xfrm>
          <a:prstGeom prst="rect">
            <a:avLst/>
          </a:prstGeom>
          <a:noFill/>
          <a:ln/>
        </p:spPr>
        <p:txBody>
          <a:bodyPr wrap="square" lIns="0" tIns="0" rIns="0" bIns="0" rtlCol="0" anchor="ctr"/>
          <a:lstStyle/>
          <a:p>
            <a:pPr indent="0" marL="0">
              <a:buNone/>
            </a:pPr>
            <a:r>
              <a:rPr lang="en-US" sz="1500" dirty="0">
                <a:solidFill>
                  <a:schemeClr val="tx1"/>
                </a:solidFill>
              </a:rPr>
              <a:t>Rebuild + validation scripts in the repo</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Done: knowledge base rebuilt without Azure</a:t>
            </a:r>
            <a:endParaRPr lang="en-US" sz="3000" dirty="0"/>
          </a:p>
        </p:txBody>
      </p:sp>
      <p:graphicFrame>
        <p:nvGraphicFramePr>
          <p:cNvPr id="3" name="Documents by type chart" descr="Bar chart: 228 publications, 242 CIROH Hub pages, 42 datasets, 51 GitHub repositories"/>
          <p:cNvGraphicFramePr/>
          <p:nvPr/>
        </p:nvGraphicFramePr>
        <p:xfrm>
          <a:off x="457200" y="1097280"/>
          <a:ext cx="4206240" cy="3474720"/>
        </p:xfrm>
        <a:graphic xmlns:a="http://schemas.openxmlformats.org/drawingml/2006/main">
          <a:graphicData uri="http://schemas.openxmlformats.org/drawingml/2006/chart">
            <c:chart xmlns:c="http://schemas.openxmlformats.org/drawingml/2006/chart" r:id="rId1"/>
          </a:graphicData>
        </a:graphic>
      </p:graphicFrame>
      <p:sp>
        <p:nvSpPr>
          <p:cNvPr id="4" name="KB point 1 circle"/>
          <p:cNvSpPr/>
          <p:nvPr/>
        </p:nvSpPr>
        <p:spPr>
          <a:xfrm>
            <a:off x="4983480" y="1261872"/>
            <a:ext cx="457200" cy="457200"/>
          </a:xfrm>
          <a:prstGeom prst="ellipse">
            <a:avLst/>
          </a:prstGeom>
          <a:solidFill>
            <a:schemeClr val="accent1"/>
          </a:solidFill>
          <a:ln w="12700">
            <a:solidFill>
              <a:schemeClr val="accent1"/>
            </a:solidFill>
            <a:prstDash val="solid"/>
          </a:ln>
        </p:spPr>
      </p:sp>
      <p:pic>
        <p:nvPicPr>
          <p:cNvPr id="5" name="KB point 1 icon" descr="KB point 1">    </p:cNvPr>
          <p:cNvPicPr>
            <a:picLocks noChangeAspect="1"/>
          </p:cNvPicPr>
          <p:nvPr/>
        </p:nvPicPr>
        <p:blipFill>
          <a:blip r:embed="rId2"/>
          <a:stretch>
            <a:fillRect/>
          </a:stretch>
        </p:blipFill>
        <p:spPr>
          <a:xfrm>
            <a:off x="5097780" y="1376172"/>
            <a:ext cx="228600" cy="228600"/>
          </a:xfrm>
          <a:prstGeom prst="rect">
            <a:avLst/>
          </a:prstGeom>
        </p:spPr>
      </p:pic>
      <p:sp>
        <p:nvSpPr>
          <p:cNvPr id="6" name="KB text 1"/>
          <p:cNvSpPr txBox="1"/>
          <p:nvPr/>
        </p:nvSpPr>
        <p:spPr>
          <a:xfrm>
            <a:off x="5577840" y="1188720"/>
            <a:ext cx="3108960" cy="640080"/>
          </a:xfrm>
          <a:prstGeom prst="rect">
            <a:avLst/>
          </a:prstGeom>
          <a:noFill/>
          <a:ln/>
        </p:spPr>
        <p:txBody>
          <a:bodyPr wrap="square" lIns="0" tIns="0" rIns="0" bIns="0" rtlCol="0" anchor="ctr"/>
          <a:lstStyle/>
          <a:p>
            <a:pPr indent="0" marL="0">
              <a:buNone/>
            </a:pPr>
            <a:r>
              <a:rPr lang="en-US" sz="1400" dirty="0">
                <a:solidFill>
                  <a:schemeClr val="tx1"/>
                </a:solidFill>
              </a:rPr>
              <a:t>Same steps as PopulateDB.ipynb, run on the repo's JSON and .mdx files</a:t>
            </a:r>
            <a:endParaRPr lang="en-US" sz="1400" dirty="0"/>
          </a:p>
        </p:txBody>
      </p:sp>
      <p:sp>
        <p:nvSpPr>
          <p:cNvPr id="7" name="KB point 2 circle"/>
          <p:cNvSpPr/>
          <p:nvPr/>
        </p:nvSpPr>
        <p:spPr>
          <a:xfrm>
            <a:off x="4983480" y="2103120"/>
            <a:ext cx="457200" cy="457200"/>
          </a:xfrm>
          <a:prstGeom prst="ellipse">
            <a:avLst/>
          </a:prstGeom>
          <a:solidFill>
            <a:schemeClr val="accent1"/>
          </a:solidFill>
          <a:ln w="12700">
            <a:solidFill>
              <a:schemeClr val="accent1"/>
            </a:solidFill>
            <a:prstDash val="solid"/>
          </a:ln>
        </p:spPr>
      </p:sp>
      <p:pic>
        <p:nvPicPr>
          <p:cNvPr id="8" name="KB point 2 icon" descr="KB point 2">    </p:cNvPr>
          <p:cNvPicPr>
            <a:picLocks noChangeAspect="1"/>
          </p:cNvPicPr>
          <p:nvPr/>
        </p:nvPicPr>
        <p:blipFill>
          <a:blip r:embed="rId3"/>
          <a:stretch>
            <a:fillRect/>
          </a:stretch>
        </p:blipFill>
        <p:spPr>
          <a:xfrm>
            <a:off x="5097780" y="2217420"/>
            <a:ext cx="228600" cy="228600"/>
          </a:xfrm>
          <a:prstGeom prst="rect">
            <a:avLst/>
          </a:prstGeom>
        </p:spPr>
      </p:pic>
      <p:sp>
        <p:nvSpPr>
          <p:cNvPr id="9" name="KB text 2"/>
          <p:cNvSpPr txBox="1"/>
          <p:nvPr/>
        </p:nvSpPr>
        <p:spPr>
          <a:xfrm>
            <a:off x="5577840" y="2029968"/>
            <a:ext cx="3108960" cy="640080"/>
          </a:xfrm>
          <a:prstGeom prst="rect">
            <a:avLst/>
          </a:prstGeom>
          <a:noFill/>
          <a:ln/>
        </p:spPr>
        <p:txBody>
          <a:bodyPr wrap="square" lIns="0" tIns="0" rIns="0" bIns="0" rtlCol="0" anchor="ctr"/>
          <a:lstStyle/>
          <a:p>
            <a:pPr indent="0" marL="0">
              <a:buNone/>
            </a:pPr>
            <a:r>
              <a:rPr lang="en-US" sz="1400" dirty="0">
                <a:solidFill>
                  <a:schemeClr val="tx1"/>
                </a:solidFill>
              </a:rPr>
              <a:t>242 Hub page summaries regenerated with Claude (about $2, once)</a:t>
            </a:r>
            <a:endParaRPr lang="en-US" sz="1400" dirty="0"/>
          </a:p>
        </p:txBody>
      </p:sp>
      <p:sp>
        <p:nvSpPr>
          <p:cNvPr id="10" name="KB point 3 circle"/>
          <p:cNvSpPr/>
          <p:nvPr/>
        </p:nvSpPr>
        <p:spPr>
          <a:xfrm>
            <a:off x="4983480" y="2944368"/>
            <a:ext cx="457200" cy="457200"/>
          </a:xfrm>
          <a:prstGeom prst="ellipse">
            <a:avLst/>
          </a:prstGeom>
          <a:solidFill>
            <a:schemeClr val="accent1"/>
          </a:solidFill>
          <a:ln w="12700">
            <a:solidFill>
              <a:schemeClr val="accent1"/>
            </a:solidFill>
            <a:prstDash val="solid"/>
          </a:ln>
        </p:spPr>
      </p:sp>
      <p:pic>
        <p:nvPicPr>
          <p:cNvPr id="11" name="KB point 3 icon" descr="KB point 3">    </p:cNvPr>
          <p:cNvPicPr>
            <a:picLocks noChangeAspect="1"/>
          </p:cNvPicPr>
          <p:nvPr/>
        </p:nvPicPr>
        <p:blipFill>
          <a:blip r:embed="rId4"/>
          <a:stretch>
            <a:fillRect/>
          </a:stretch>
        </p:blipFill>
        <p:spPr>
          <a:xfrm>
            <a:off x="5097780" y="3058668"/>
            <a:ext cx="228600" cy="228600"/>
          </a:xfrm>
          <a:prstGeom prst="rect">
            <a:avLst/>
          </a:prstGeom>
        </p:spPr>
      </p:pic>
      <p:sp>
        <p:nvSpPr>
          <p:cNvPr id="12" name="KB text 3"/>
          <p:cNvSpPr txBox="1"/>
          <p:nvPr/>
        </p:nvSpPr>
        <p:spPr>
          <a:xfrm>
            <a:off x="5577840" y="2871216"/>
            <a:ext cx="3108960" cy="640080"/>
          </a:xfrm>
          <a:prstGeom prst="rect">
            <a:avLst/>
          </a:prstGeom>
          <a:noFill/>
          <a:ln/>
        </p:spPr>
        <p:txBody>
          <a:bodyPr wrap="square" lIns="0" tIns="0" rIns="0" bIns="0" rtlCol="0" anchor="ctr"/>
          <a:lstStyle/>
          <a:p>
            <a:pPr indent="0" marL="0">
              <a:buNone/>
            </a:pPr>
            <a:r>
              <a:rPr lang="en-US" sz="1400" dirty="0">
                <a:solidFill>
                  <a:schemeClr val="tx1"/>
                </a:solidFill>
              </a:rPr>
              <a:t>13,749 chunks embedded with Titan V2 (1024 dimensions)</a:t>
            </a:r>
            <a:endParaRPr lang="en-US" sz="1400" dirty="0"/>
          </a:p>
        </p:txBody>
      </p:sp>
      <p:sp>
        <p:nvSpPr>
          <p:cNvPr id="13" name="KB point 4 circle"/>
          <p:cNvSpPr/>
          <p:nvPr/>
        </p:nvSpPr>
        <p:spPr>
          <a:xfrm>
            <a:off x="4983480" y="3785616"/>
            <a:ext cx="457200" cy="457200"/>
          </a:xfrm>
          <a:prstGeom prst="ellipse">
            <a:avLst/>
          </a:prstGeom>
          <a:solidFill>
            <a:schemeClr val="accent2"/>
          </a:solidFill>
          <a:ln w="12700">
            <a:solidFill>
              <a:schemeClr val="accent2"/>
            </a:solidFill>
            <a:prstDash val="solid"/>
          </a:ln>
        </p:spPr>
      </p:sp>
      <p:pic>
        <p:nvPicPr>
          <p:cNvPr id="14" name="KB point 4 icon" descr="KB point 4">    </p:cNvPr>
          <p:cNvPicPr>
            <a:picLocks noChangeAspect="1"/>
          </p:cNvPicPr>
          <p:nvPr/>
        </p:nvPicPr>
        <p:blipFill>
          <a:blip r:embed="rId5"/>
          <a:stretch>
            <a:fillRect/>
          </a:stretch>
        </p:blipFill>
        <p:spPr>
          <a:xfrm>
            <a:off x="5097780" y="3899916"/>
            <a:ext cx="228600" cy="228600"/>
          </a:xfrm>
          <a:prstGeom prst="rect">
            <a:avLst/>
          </a:prstGeom>
        </p:spPr>
      </p:pic>
      <p:sp>
        <p:nvSpPr>
          <p:cNvPr id="15" name="KB text 4"/>
          <p:cNvSpPr txBox="1"/>
          <p:nvPr/>
        </p:nvSpPr>
        <p:spPr>
          <a:xfrm>
            <a:off x="5577840" y="3712464"/>
            <a:ext cx="3108960" cy="640080"/>
          </a:xfrm>
          <a:prstGeom prst="rect">
            <a:avLst/>
          </a:prstGeom>
          <a:noFill/>
          <a:ln/>
        </p:spPr>
        <p:txBody>
          <a:bodyPr wrap="square" lIns="0" tIns="0" rIns="0" bIns="0" rtlCol="0" anchor="ctr"/>
          <a:lstStyle/>
          <a:p>
            <a:pPr indent="0" marL="0">
              <a:buNone/>
            </a:pPr>
            <a:r>
              <a:rPr lang="en-US" sz="1400" dirty="0">
                <a:solidFill>
                  <a:schemeClr val="tx1"/>
                </a:solidFill>
              </a:rPr>
              <a:t>Validation: 0 orphan chunks, 0 missing embeddings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Done: retrieval and end-to-end tests pass</a:t>
            </a:r>
            <a:endParaRPr lang="en-US" sz="3000" dirty="0"/>
          </a:p>
        </p:txBody>
      </p:sp>
      <p:graphicFrame>
        <p:nvGraphicFramePr>
          <p:cNvPr id="7" name="Test results table"/>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3383280"/>
                <a:gridCol w="3840480"/>
                <a:gridCol w="1005840"/>
              </a:tblGrid>
              <a:tr h="512064">
                <a:tc>
                  <a:txBody>
                    <a:bodyPr/>
                    <a:lstStyle/>
                    <a:p>
                      <a:pPr indent="0" marL="0">
                        <a:buNone/>
                      </a:pPr>
                      <a:r>
                        <a:rPr lang="en-US" sz="1300" b="1" dirty="0">
                          <a:solidFill>
                            <a:schemeClr val="bg1"/>
                          </a:solidFill>
                        </a:rPr>
                        <a:t>Test</a:t>
                      </a:r>
                      <a:endParaRPr lang="en-US" sz="13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Result</a:t>
                      </a:r>
                      <a:endParaRPr lang="en-US" sz="13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Status</a:t>
                      </a:r>
                      <a:endParaRPr lang="en-US" sz="13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tx2"/>
                    </a:solidFill>
                  </a:tcPr>
                </a:tc>
              </a:tr>
              <a:tr h="512064">
                <a:tc>
                  <a:txBody>
                    <a:bodyPr/>
                    <a:lstStyle/>
                    <a:p>
                      <a:pPr indent="0" marL="0">
                        <a:buNone/>
                      </a:pPr>
                      <a:r>
                        <a:rPr lang="en-US" sz="1300" dirty="0">
                          <a:solidFill>
                            <a:schemeClr val="tx1"/>
                          </a:solidFill>
                        </a:rPr>
                        <a:t>Search: "What is NextGen In A Box?"</a:t>
                      </a:r>
                      <a:endParaRPr lang="en-US" sz="13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Top match: NGIAB page (distance 0.25)</a:t>
                      </a:r>
                      <a:endParaRPr lang="en-US" sz="13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Pass</a:t>
                      </a:r>
                      <a:endParaRPr lang="en-US" sz="13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r>
              <a:tr h="512064">
                <a:tc>
                  <a:txBody>
                    <a:bodyPr/>
                    <a:lstStyle/>
                    <a:p>
                      <a:pPr indent="0" marL="0">
                        <a:buNone/>
                      </a:pPr>
                      <a:r>
                        <a:rPr lang="en-US" sz="1300" dirty="0">
                          <a:solidFill>
                            <a:schemeClr val="tx1"/>
                          </a:solidFill>
                        </a:rPr>
                        <a:t>Search: "Access to CIROH cloud computing?"</a:t>
                      </a:r>
                      <a:endParaRPr lang="en-US" sz="13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Top match: CIROH AWS Account (0.27)</a:t>
                      </a:r>
                      <a:endParaRPr lang="en-US" sz="13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Pass</a:t>
                      </a:r>
                      <a:endParaRPr lang="en-US" sz="13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r>
              <a:tr h="512064">
                <a:tc>
                  <a:txBody>
                    <a:bodyPr/>
                    <a:lstStyle/>
                    <a:p>
                      <a:pPr indent="0" marL="0">
                        <a:buNone/>
                      </a:pPr>
                      <a:r>
                        <a:rPr lang="en-US" sz="1300" dirty="0">
                          <a:solidFill>
                            <a:schemeClr val="tx1"/>
                          </a:solidFill>
                        </a:rPr>
                        <a:t>Off-topic: "Write an essay on the French Revolution"</a:t>
                      </a:r>
                      <a:endParaRPr lang="en-US" sz="13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Score 0.88, refused in 0.3 s, no model call</a:t>
                      </a:r>
                      <a:endParaRPr lang="en-US" sz="13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Pass</a:t>
                      </a:r>
                      <a:endParaRPr lang="en-US" sz="13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r>
              <a:tr h="512064">
                <a:tc>
                  <a:txBody>
                    <a:bodyPr/>
                    <a:lstStyle/>
                    <a:p>
                      <a:pPr indent="0" marL="0">
                        <a:buNone/>
                      </a:pPr>
                      <a:r>
                        <a:rPr lang="en-US" sz="1300" dirty="0">
                          <a:solidFill>
                            <a:schemeClr val="tx1"/>
                          </a:solidFill>
                        </a:rPr>
                        <a:t>End to end through CloudFront</a:t>
                      </a:r>
                      <a:endParaRPr lang="en-US" sz="13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2 questions answered in 9.7 s and 8.1 s</a:t>
                      </a:r>
                      <a:endParaRPr lang="en-US" sz="13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Pass</a:t>
                      </a:r>
                      <a:endParaRPr lang="en-US" sz="13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r>
              <a:tr h="512064">
                <a:tc>
                  <a:txBody>
                    <a:bodyPr/>
                    <a:lstStyle/>
                    <a:p>
                      <a:pPr indent="0" marL="0">
                        <a:buNone/>
                      </a:pPr>
                      <a:r>
                        <a:rPr lang="en-US" sz="1300" dirty="0">
                          <a:solidFill>
                            <a:schemeClr val="tx1"/>
                          </a:solidFill>
                        </a:rPr>
                        <a:t>Live chat UI in the browser</a:t>
                      </a:r>
                      <a:endParaRPr lang="en-US" sz="13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Answer with sources and question-type label</a:t>
                      </a:r>
                      <a:endParaRPr lang="en-US" sz="13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Pass</a:t>
                      </a:r>
                      <a:endParaRPr lang="en-US" sz="13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Done: issues found and fixed on the way</a:t>
            </a:r>
            <a:endParaRPr lang="en-US" sz="3000" dirty="0"/>
          </a:p>
        </p:txBody>
      </p:sp>
      <p:sp>
        <p:nvSpPr>
          <p:cNvPr id="3" name="Fix card 1"/>
          <p:cNvSpPr/>
          <p:nvPr/>
        </p:nvSpPr>
        <p:spPr>
          <a:xfrm>
            <a:off x="457200" y="1188720"/>
            <a:ext cx="2651760" cy="1463040"/>
          </a:xfrm>
          <a:prstGeom prst="roundRect">
            <a:avLst>
              <a:gd name="adj" fmla="val 5000"/>
            </a:avLst>
          </a:prstGeom>
          <a:solidFill>
            <a:schemeClr val="bg2"/>
          </a:solidFill>
          <a:ln w="12700">
            <a:solidFill>
              <a:schemeClr val="bg2"/>
            </a:solidFill>
            <a:prstDash val="solid"/>
          </a:ln>
        </p:spPr>
      </p:sp>
      <p:sp>
        <p:nvSpPr>
          <p:cNvPr id="4" name="Fix 1 circle"/>
          <p:cNvSpPr/>
          <p:nvPr/>
        </p:nvSpPr>
        <p:spPr>
          <a:xfrm>
            <a:off x="640080" y="1371600"/>
            <a:ext cx="457200" cy="457200"/>
          </a:xfrm>
          <a:prstGeom prst="ellipse">
            <a:avLst/>
          </a:prstGeom>
          <a:solidFill>
            <a:schemeClr val="accent4"/>
          </a:solidFill>
          <a:ln w="12700">
            <a:solidFill>
              <a:schemeClr val="accent4"/>
            </a:solidFill>
            <a:prstDash val="solid"/>
          </a:ln>
        </p:spPr>
      </p:sp>
      <p:pic>
        <p:nvPicPr>
          <p:cNvPr id="5" name="Fix 1 icon" descr="Fix 1">    </p:cNvPr>
          <p:cNvPicPr>
            <a:picLocks noChangeAspect="1"/>
          </p:cNvPicPr>
          <p:nvPr/>
        </p:nvPicPr>
        <p:blipFill>
          <a:blip r:embed="rId1"/>
          <a:stretch>
            <a:fillRect/>
          </a:stretch>
        </p:blipFill>
        <p:spPr>
          <a:xfrm>
            <a:off x="754380" y="1485900"/>
            <a:ext cx="228600" cy="228600"/>
          </a:xfrm>
          <a:prstGeom prst="rect">
            <a:avLst/>
          </a:prstGeom>
        </p:spPr>
      </p:pic>
      <p:sp>
        <p:nvSpPr>
          <p:cNvPr id="6" name="Fix title 1"/>
          <p:cNvSpPr txBox="1"/>
          <p:nvPr/>
        </p:nvSpPr>
        <p:spPr>
          <a:xfrm>
            <a:off x="1234440" y="1371600"/>
            <a:ext cx="1783080" cy="457200"/>
          </a:xfrm>
          <a:prstGeom prst="rect">
            <a:avLst/>
          </a:prstGeom>
          <a:noFill/>
          <a:ln/>
        </p:spPr>
        <p:txBody>
          <a:bodyPr wrap="square" lIns="0" tIns="0" rIns="0" bIns="0" rtlCol="0" anchor="ctr"/>
          <a:lstStyle/>
          <a:p>
            <a:pPr indent="0" marL="0">
              <a:buNone/>
            </a:pPr>
            <a:r>
              <a:rPr lang="en-US" sz="1500" b="1" dirty="0">
                <a:solidFill>
                  <a:schemeClr val="tx2"/>
                </a:solidFill>
              </a:rPr>
              <a:t>WAF placement</a:t>
            </a:r>
            <a:endParaRPr lang="en-US" sz="1500" dirty="0"/>
          </a:p>
        </p:txBody>
      </p:sp>
      <p:sp>
        <p:nvSpPr>
          <p:cNvPr id="7" name="Fix text 1"/>
          <p:cNvSpPr txBox="1"/>
          <p:nvPr/>
        </p:nvSpPr>
        <p:spPr>
          <a:xfrm>
            <a:off x="640080" y="1965960"/>
            <a:ext cx="2331720" cy="594360"/>
          </a:xfrm>
          <a:prstGeom prst="rect">
            <a:avLst/>
          </a:prstGeom>
          <a:noFill/>
          <a:ln/>
        </p:spPr>
        <p:txBody>
          <a:bodyPr wrap="square" lIns="0" tIns="0" rIns="0" bIns="0" rtlCol="0" anchor="t"/>
          <a:lstStyle/>
          <a:p>
            <a:pPr indent="0" marL="0">
              <a:buNone/>
            </a:pPr>
            <a:r>
              <a:rPr lang="en-US" sz="1200" dirty="0">
                <a:solidFill>
                  <a:schemeClr val="tx1"/>
                </a:solidFill>
              </a:rPr>
              <a:t>Moved to CloudFront: WAF cannot attach to HTTP APIs</a:t>
            </a:r>
            <a:endParaRPr lang="en-US" sz="1200" dirty="0"/>
          </a:p>
        </p:txBody>
      </p:sp>
      <p:sp>
        <p:nvSpPr>
          <p:cNvPr id="8" name="Fix card 2"/>
          <p:cNvSpPr/>
          <p:nvPr/>
        </p:nvSpPr>
        <p:spPr>
          <a:xfrm>
            <a:off x="3246120" y="1188720"/>
            <a:ext cx="2651760" cy="1463040"/>
          </a:xfrm>
          <a:prstGeom prst="roundRect">
            <a:avLst>
              <a:gd name="adj" fmla="val 5000"/>
            </a:avLst>
          </a:prstGeom>
          <a:solidFill>
            <a:schemeClr val="bg2"/>
          </a:solidFill>
          <a:ln w="12700">
            <a:solidFill>
              <a:schemeClr val="bg2"/>
            </a:solidFill>
            <a:prstDash val="solid"/>
          </a:ln>
        </p:spPr>
      </p:sp>
      <p:sp>
        <p:nvSpPr>
          <p:cNvPr id="9" name="Fix 2 circle"/>
          <p:cNvSpPr/>
          <p:nvPr/>
        </p:nvSpPr>
        <p:spPr>
          <a:xfrm>
            <a:off x="3429000" y="1371600"/>
            <a:ext cx="457200" cy="457200"/>
          </a:xfrm>
          <a:prstGeom prst="ellipse">
            <a:avLst/>
          </a:prstGeom>
          <a:solidFill>
            <a:schemeClr val="accent4"/>
          </a:solidFill>
          <a:ln w="12700">
            <a:solidFill>
              <a:schemeClr val="accent4"/>
            </a:solidFill>
            <a:prstDash val="solid"/>
          </a:ln>
        </p:spPr>
      </p:sp>
      <p:pic>
        <p:nvPicPr>
          <p:cNvPr id="10" name="Fix 2 icon" descr="Fix 2">    </p:cNvPr>
          <p:cNvPicPr>
            <a:picLocks noChangeAspect="1"/>
          </p:cNvPicPr>
          <p:nvPr/>
        </p:nvPicPr>
        <p:blipFill>
          <a:blip r:embed="rId2"/>
          <a:stretch>
            <a:fillRect/>
          </a:stretch>
        </p:blipFill>
        <p:spPr>
          <a:xfrm>
            <a:off x="3543300" y="1485900"/>
            <a:ext cx="228600" cy="228600"/>
          </a:xfrm>
          <a:prstGeom prst="rect">
            <a:avLst/>
          </a:prstGeom>
        </p:spPr>
      </p:pic>
      <p:sp>
        <p:nvSpPr>
          <p:cNvPr id="11" name="Fix title 2"/>
          <p:cNvSpPr txBox="1"/>
          <p:nvPr/>
        </p:nvSpPr>
        <p:spPr>
          <a:xfrm>
            <a:off x="4023360" y="1371600"/>
            <a:ext cx="1783080" cy="457200"/>
          </a:xfrm>
          <a:prstGeom prst="rect">
            <a:avLst/>
          </a:prstGeom>
          <a:noFill/>
          <a:ln/>
        </p:spPr>
        <p:txBody>
          <a:bodyPr wrap="square" lIns="0" tIns="0" rIns="0" bIns="0" rtlCol="0" anchor="ctr"/>
          <a:lstStyle/>
          <a:p>
            <a:pPr indent="0" marL="0">
              <a:buNone/>
            </a:pPr>
            <a:r>
              <a:rPr lang="en-US" sz="1500" b="1" dirty="0">
                <a:solidFill>
                  <a:schemeClr val="tx2"/>
                </a:solidFill>
              </a:rPr>
              <a:t>Model ID</a:t>
            </a:r>
            <a:endParaRPr lang="en-US" sz="1500" dirty="0"/>
          </a:p>
        </p:txBody>
      </p:sp>
      <p:sp>
        <p:nvSpPr>
          <p:cNvPr id="12" name="Fix text 2"/>
          <p:cNvSpPr txBox="1"/>
          <p:nvPr/>
        </p:nvSpPr>
        <p:spPr>
          <a:xfrm>
            <a:off x="3429000" y="1965960"/>
            <a:ext cx="2331720" cy="594360"/>
          </a:xfrm>
          <a:prstGeom prst="rect">
            <a:avLst/>
          </a:prstGeom>
          <a:noFill/>
          <a:ln/>
        </p:spPr>
        <p:txBody>
          <a:bodyPr wrap="square" lIns="0" tIns="0" rIns="0" bIns="0" rtlCol="0" anchor="t"/>
          <a:lstStyle/>
          <a:p>
            <a:pPr indent="0" marL="0">
              <a:buNone/>
            </a:pPr>
            <a:r>
              <a:rPr lang="en-US" sz="1200" dirty="0">
                <a:solidFill>
                  <a:schemeClr val="tx1"/>
                </a:solidFill>
              </a:rPr>
              <a:t>Claude Haiku 4.5 needs the us. inference profile ID</a:t>
            </a:r>
            <a:endParaRPr lang="en-US" sz="1200" dirty="0"/>
          </a:p>
        </p:txBody>
      </p:sp>
      <p:sp>
        <p:nvSpPr>
          <p:cNvPr id="13" name="Fix card 3"/>
          <p:cNvSpPr/>
          <p:nvPr/>
        </p:nvSpPr>
        <p:spPr>
          <a:xfrm>
            <a:off x="6035040" y="1188720"/>
            <a:ext cx="2651760" cy="1463040"/>
          </a:xfrm>
          <a:prstGeom prst="roundRect">
            <a:avLst>
              <a:gd name="adj" fmla="val 5000"/>
            </a:avLst>
          </a:prstGeom>
          <a:solidFill>
            <a:schemeClr val="bg2"/>
          </a:solidFill>
          <a:ln w="12700">
            <a:solidFill>
              <a:schemeClr val="bg2"/>
            </a:solidFill>
            <a:prstDash val="solid"/>
          </a:ln>
        </p:spPr>
      </p:sp>
      <p:sp>
        <p:nvSpPr>
          <p:cNvPr id="14" name="Fix 3 circle"/>
          <p:cNvSpPr/>
          <p:nvPr/>
        </p:nvSpPr>
        <p:spPr>
          <a:xfrm>
            <a:off x="6217920" y="1371600"/>
            <a:ext cx="457200" cy="457200"/>
          </a:xfrm>
          <a:prstGeom prst="ellipse">
            <a:avLst/>
          </a:prstGeom>
          <a:solidFill>
            <a:schemeClr val="accent4"/>
          </a:solidFill>
          <a:ln w="12700">
            <a:solidFill>
              <a:schemeClr val="accent4"/>
            </a:solidFill>
            <a:prstDash val="solid"/>
          </a:ln>
        </p:spPr>
      </p:sp>
      <p:pic>
        <p:nvPicPr>
          <p:cNvPr id="15" name="Fix 3 icon" descr="Fix 3">    </p:cNvPr>
          <p:cNvPicPr>
            <a:picLocks noChangeAspect="1"/>
          </p:cNvPicPr>
          <p:nvPr/>
        </p:nvPicPr>
        <p:blipFill>
          <a:blip r:embed="rId3"/>
          <a:stretch>
            <a:fillRect/>
          </a:stretch>
        </p:blipFill>
        <p:spPr>
          <a:xfrm>
            <a:off x="6332220" y="1485900"/>
            <a:ext cx="228600" cy="228600"/>
          </a:xfrm>
          <a:prstGeom prst="rect">
            <a:avLst/>
          </a:prstGeom>
        </p:spPr>
      </p:pic>
      <p:sp>
        <p:nvSpPr>
          <p:cNvPr id="16" name="Fix title 3"/>
          <p:cNvSpPr txBox="1"/>
          <p:nvPr/>
        </p:nvSpPr>
        <p:spPr>
          <a:xfrm>
            <a:off x="6812280" y="1371600"/>
            <a:ext cx="1783080" cy="457200"/>
          </a:xfrm>
          <a:prstGeom prst="rect">
            <a:avLst/>
          </a:prstGeom>
          <a:noFill/>
          <a:ln/>
        </p:spPr>
        <p:txBody>
          <a:bodyPr wrap="square" lIns="0" tIns="0" rIns="0" bIns="0" rtlCol="0" anchor="ctr"/>
          <a:lstStyle/>
          <a:p>
            <a:pPr indent="0" marL="0">
              <a:buNone/>
            </a:pPr>
            <a:r>
              <a:rPr lang="en-US" sz="1500" b="1" dirty="0">
                <a:solidFill>
                  <a:schemeClr val="tx2"/>
                </a:solidFill>
              </a:rPr>
              <a:t>Lambda crashes</a:t>
            </a:r>
            <a:endParaRPr lang="en-US" sz="1500" dirty="0"/>
          </a:p>
        </p:txBody>
      </p:sp>
      <p:sp>
        <p:nvSpPr>
          <p:cNvPr id="17" name="Fix text 3"/>
          <p:cNvSpPr txBox="1"/>
          <p:nvPr/>
        </p:nvSpPr>
        <p:spPr>
          <a:xfrm>
            <a:off x="6217920" y="1965960"/>
            <a:ext cx="2331720" cy="594360"/>
          </a:xfrm>
          <a:prstGeom prst="rect">
            <a:avLst/>
          </a:prstGeom>
          <a:noFill/>
          <a:ln/>
        </p:spPr>
        <p:txBody>
          <a:bodyPr wrap="square" lIns="0" tIns="0" rIns="0" bIns="0" rtlCol="0" anchor="t"/>
          <a:lstStyle/>
          <a:p>
            <a:pPr indent="0" marL="0">
              <a:buNone/>
            </a:pPr>
            <a:r>
              <a:rPr lang="en-US" sz="1200" dirty="0">
                <a:solidFill>
                  <a:schemeClr val="tx1"/>
                </a:solidFill>
              </a:rPr>
              <a:t>Removed openai import; telemetry now logs to CloudWatch</a:t>
            </a:r>
            <a:endParaRPr lang="en-US" sz="1200" dirty="0"/>
          </a:p>
        </p:txBody>
      </p:sp>
      <p:sp>
        <p:nvSpPr>
          <p:cNvPr id="18" name="Fix card 4"/>
          <p:cNvSpPr/>
          <p:nvPr/>
        </p:nvSpPr>
        <p:spPr>
          <a:xfrm>
            <a:off x="457200" y="2834640"/>
            <a:ext cx="2651760" cy="1463040"/>
          </a:xfrm>
          <a:prstGeom prst="roundRect">
            <a:avLst>
              <a:gd name="adj" fmla="val 5000"/>
            </a:avLst>
          </a:prstGeom>
          <a:solidFill>
            <a:schemeClr val="bg2"/>
          </a:solidFill>
          <a:ln w="12700">
            <a:solidFill>
              <a:schemeClr val="bg2"/>
            </a:solidFill>
            <a:prstDash val="solid"/>
          </a:ln>
        </p:spPr>
      </p:sp>
      <p:sp>
        <p:nvSpPr>
          <p:cNvPr id="19" name="Fix 4 circle"/>
          <p:cNvSpPr/>
          <p:nvPr/>
        </p:nvSpPr>
        <p:spPr>
          <a:xfrm>
            <a:off x="640080" y="3017520"/>
            <a:ext cx="457200" cy="457200"/>
          </a:xfrm>
          <a:prstGeom prst="ellipse">
            <a:avLst/>
          </a:prstGeom>
          <a:solidFill>
            <a:schemeClr val="accent4"/>
          </a:solidFill>
          <a:ln w="12700">
            <a:solidFill>
              <a:schemeClr val="accent4"/>
            </a:solidFill>
            <a:prstDash val="solid"/>
          </a:ln>
        </p:spPr>
      </p:sp>
      <p:pic>
        <p:nvPicPr>
          <p:cNvPr id="20" name="Fix 4 icon" descr="Fix 4">    </p:cNvPr>
          <p:cNvPicPr>
            <a:picLocks noChangeAspect="1"/>
          </p:cNvPicPr>
          <p:nvPr/>
        </p:nvPicPr>
        <p:blipFill>
          <a:blip r:embed="rId4"/>
          <a:stretch>
            <a:fillRect/>
          </a:stretch>
        </p:blipFill>
        <p:spPr>
          <a:xfrm>
            <a:off x="754380" y="3131820"/>
            <a:ext cx="228600" cy="228600"/>
          </a:xfrm>
          <a:prstGeom prst="rect">
            <a:avLst/>
          </a:prstGeom>
        </p:spPr>
      </p:pic>
      <p:sp>
        <p:nvSpPr>
          <p:cNvPr id="21" name="Fix title 4"/>
          <p:cNvSpPr txBox="1"/>
          <p:nvPr/>
        </p:nvSpPr>
        <p:spPr>
          <a:xfrm>
            <a:off x="1234440" y="3017520"/>
            <a:ext cx="1783080" cy="457200"/>
          </a:xfrm>
          <a:prstGeom prst="rect">
            <a:avLst/>
          </a:prstGeom>
          <a:noFill/>
          <a:ln/>
        </p:spPr>
        <p:txBody>
          <a:bodyPr wrap="square" lIns="0" tIns="0" rIns="0" bIns="0" rtlCol="0" anchor="ctr"/>
          <a:lstStyle/>
          <a:p>
            <a:pPr indent="0" marL="0">
              <a:buNone/>
            </a:pPr>
            <a:r>
              <a:rPr lang="en-US" sz="1500" b="1" dirty="0">
                <a:solidFill>
                  <a:schemeClr val="tx2"/>
                </a:solidFill>
              </a:rPr>
              <a:t>Data API queries</a:t>
            </a:r>
            <a:endParaRPr lang="en-US" sz="1500" dirty="0"/>
          </a:p>
        </p:txBody>
      </p:sp>
      <p:sp>
        <p:nvSpPr>
          <p:cNvPr id="22" name="Fix text 4"/>
          <p:cNvSpPr txBox="1"/>
          <p:nvPr/>
        </p:nvSpPr>
        <p:spPr>
          <a:xfrm>
            <a:off x="640080" y="3611880"/>
            <a:ext cx="2331720" cy="594360"/>
          </a:xfrm>
          <a:prstGeom prst="rect">
            <a:avLst/>
          </a:prstGeom>
          <a:noFill/>
          <a:ln/>
        </p:spPr>
        <p:txBody>
          <a:bodyPr wrap="square" lIns="0" tIns="0" rIns="0" bIns="0" rtlCol="0" anchor="t"/>
          <a:lstStyle/>
          <a:p>
            <a:pPr indent="0" marL="0">
              <a:buNone/>
            </a:pPr>
            <a:r>
              <a:rPr lang="en-US" sz="1200" dirty="0">
                <a:solidFill>
                  <a:schemeClr val="tx1"/>
                </a:solidFill>
              </a:rPr>
              <a:t>Array params, jsonb/vector casts, wait for DB wake-up</a:t>
            </a:r>
            <a:endParaRPr lang="en-US" sz="1200" dirty="0"/>
          </a:p>
        </p:txBody>
      </p:sp>
      <p:sp>
        <p:nvSpPr>
          <p:cNvPr id="23" name="Fix card 5"/>
          <p:cNvSpPr/>
          <p:nvPr/>
        </p:nvSpPr>
        <p:spPr>
          <a:xfrm>
            <a:off x="3246120" y="2834640"/>
            <a:ext cx="2651760" cy="1463040"/>
          </a:xfrm>
          <a:prstGeom prst="roundRect">
            <a:avLst>
              <a:gd name="adj" fmla="val 5000"/>
            </a:avLst>
          </a:prstGeom>
          <a:solidFill>
            <a:schemeClr val="bg2"/>
          </a:solidFill>
          <a:ln w="12700">
            <a:solidFill>
              <a:schemeClr val="bg2"/>
            </a:solidFill>
            <a:prstDash val="solid"/>
          </a:ln>
        </p:spPr>
      </p:sp>
      <p:sp>
        <p:nvSpPr>
          <p:cNvPr id="24" name="Fix 5 circle"/>
          <p:cNvSpPr/>
          <p:nvPr/>
        </p:nvSpPr>
        <p:spPr>
          <a:xfrm>
            <a:off x="3429000" y="3017520"/>
            <a:ext cx="457200" cy="457200"/>
          </a:xfrm>
          <a:prstGeom prst="ellipse">
            <a:avLst/>
          </a:prstGeom>
          <a:solidFill>
            <a:schemeClr val="accent4"/>
          </a:solidFill>
          <a:ln w="12700">
            <a:solidFill>
              <a:schemeClr val="accent4"/>
            </a:solidFill>
            <a:prstDash val="solid"/>
          </a:ln>
        </p:spPr>
      </p:sp>
      <p:pic>
        <p:nvPicPr>
          <p:cNvPr id="25" name="Fix 5 icon" descr="Fix 5">    </p:cNvPr>
          <p:cNvPicPr>
            <a:picLocks noChangeAspect="1"/>
          </p:cNvPicPr>
          <p:nvPr/>
        </p:nvPicPr>
        <p:blipFill>
          <a:blip r:embed="rId5"/>
          <a:stretch>
            <a:fillRect/>
          </a:stretch>
        </p:blipFill>
        <p:spPr>
          <a:xfrm>
            <a:off x="3543300" y="3131820"/>
            <a:ext cx="228600" cy="228600"/>
          </a:xfrm>
          <a:prstGeom prst="rect">
            <a:avLst/>
          </a:prstGeom>
        </p:spPr>
      </p:pic>
      <p:sp>
        <p:nvSpPr>
          <p:cNvPr id="26" name="Fix title 5"/>
          <p:cNvSpPr txBox="1"/>
          <p:nvPr/>
        </p:nvSpPr>
        <p:spPr>
          <a:xfrm>
            <a:off x="4023360" y="3017520"/>
            <a:ext cx="1783080" cy="457200"/>
          </a:xfrm>
          <a:prstGeom prst="rect">
            <a:avLst/>
          </a:prstGeom>
          <a:noFill/>
          <a:ln/>
        </p:spPr>
        <p:txBody>
          <a:bodyPr wrap="square" lIns="0" tIns="0" rIns="0" bIns="0" rtlCol="0" anchor="ctr"/>
          <a:lstStyle/>
          <a:p>
            <a:pPr indent="0" marL="0">
              <a:buNone/>
            </a:pPr>
            <a:r>
              <a:rPr lang="en-US" sz="1500" b="1" dirty="0">
                <a:solidFill>
                  <a:schemeClr val="tx2"/>
                </a:solidFill>
              </a:rPr>
              <a:t>Frontend URL</a:t>
            </a:r>
            <a:endParaRPr lang="en-US" sz="1500" dirty="0"/>
          </a:p>
        </p:txBody>
      </p:sp>
      <p:sp>
        <p:nvSpPr>
          <p:cNvPr id="27" name="Fix text 5"/>
          <p:cNvSpPr txBox="1"/>
          <p:nvPr/>
        </p:nvSpPr>
        <p:spPr>
          <a:xfrm>
            <a:off x="3429000" y="3611880"/>
            <a:ext cx="2331720" cy="594360"/>
          </a:xfrm>
          <a:prstGeom prst="rect">
            <a:avLst/>
          </a:prstGeom>
          <a:noFill/>
          <a:ln/>
        </p:spPr>
        <p:txBody>
          <a:bodyPr wrap="square" lIns="0" tIns="0" rIns="0" bIns="0" rtlCol="0" anchor="t"/>
          <a:lstStyle/>
          <a:p>
            <a:pPr indent="0" marL="0">
              <a:buNone/>
            </a:pPr>
            <a:r>
              <a:rPr lang="en-US" sz="1200" dirty="0">
                <a:solidFill>
                  <a:schemeClr val="tx1"/>
                </a:solidFill>
              </a:rPr>
              <a:t>Production build was calling 127.0.0.1</a:t>
            </a:r>
            <a:endParaRPr lang="en-US" sz="1200" dirty="0"/>
          </a:p>
        </p:txBody>
      </p:sp>
      <p:sp>
        <p:nvSpPr>
          <p:cNvPr id="28" name="Fix card 6"/>
          <p:cNvSpPr/>
          <p:nvPr/>
        </p:nvSpPr>
        <p:spPr>
          <a:xfrm>
            <a:off x="6035040" y="2834640"/>
            <a:ext cx="2651760" cy="1463040"/>
          </a:xfrm>
          <a:prstGeom prst="roundRect">
            <a:avLst>
              <a:gd name="adj" fmla="val 5000"/>
            </a:avLst>
          </a:prstGeom>
          <a:solidFill>
            <a:schemeClr val="bg2"/>
          </a:solidFill>
          <a:ln w="12700">
            <a:solidFill>
              <a:schemeClr val="bg2"/>
            </a:solidFill>
            <a:prstDash val="solid"/>
          </a:ln>
        </p:spPr>
      </p:sp>
      <p:sp>
        <p:nvSpPr>
          <p:cNvPr id="29" name="Fix 6 circle"/>
          <p:cNvSpPr/>
          <p:nvPr/>
        </p:nvSpPr>
        <p:spPr>
          <a:xfrm>
            <a:off x="6217920" y="3017520"/>
            <a:ext cx="457200" cy="457200"/>
          </a:xfrm>
          <a:prstGeom prst="ellipse">
            <a:avLst/>
          </a:prstGeom>
          <a:solidFill>
            <a:schemeClr val="accent4"/>
          </a:solidFill>
          <a:ln w="12700">
            <a:solidFill>
              <a:schemeClr val="accent4"/>
            </a:solidFill>
            <a:prstDash val="solid"/>
          </a:ln>
        </p:spPr>
      </p:sp>
      <p:pic>
        <p:nvPicPr>
          <p:cNvPr id="30" name="Fix 6 icon" descr="Fix 6">    </p:cNvPr>
          <p:cNvPicPr>
            <a:picLocks noChangeAspect="1"/>
          </p:cNvPicPr>
          <p:nvPr/>
        </p:nvPicPr>
        <p:blipFill>
          <a:blip r:embed="rId6"/>
          <a:stretch>
            <a:fillRect/>
          </a:stretch>
        </p:blipFill>
        <p:spPr>
          <a:xfrm>
            <a:off x="6332220" y="3131820"/>
            <a:ext cx="228600" cy="228600"/>
          </a:xfrm>
          <a:prstGeom prst="rect">
            <a:avLst/>
          </a:prstGeom>
        </p:spPr>
      </p:pic>
      <p:sp>
        <p:nvSpPr>
          <p:cNvPr id="31" name="Fix title 6"/>
          <p:cNvSpPr txBox="1"/>
          <p:nvPr/>
        </p:nvSpPr>
        <p:spPr>
          <a:xfrm>
            <a:off x="6812280" y="3017520"/>
            <a:ext cx="1783080" cy="457200"/>
          </a:xfrm>
          <a:prstGeom prst="rect">
            <a:avLst/>
          </a:prstGeom>
          <a:noFill/>
          <a:ln/>
        </p:spPr>
        <p:txBody>
          <a:bodyPr wrap="square" lIns="0" tIns="0" rIns="0" bIns="0" rtlCol="0" anchor="ctr"/>
          <a:lstStyle/>
          <a:p>
            <a:pPr indent="0" marL="0">
              <a:buNone/>
            </a:pPr>
            <a:r>
              <a:rPr lang="en-US" sz="1500" b="1" dirty="0">
                <a:solidFill>
                  <a:schemeClr val="tx2"/>
                </a:solidFill>
              </a:rPr>
              <a:t>Deploy blockers</a:t>
            </a:r>
            <a:endParaRPr lang="en-US" sz="1500" dirty="0"/>
          </a:p>
        </p:txBody>
      </p:sp>
      <p:sp>
        <p:nvSpPr>
          <p:cNvPr id="32" name="Fix text 6"/>
          <p:cNvSpPr txBox="1"/>
          <p:nvPr/>
        </p:nvSpPr>
        <p:spPr>
          <a:xfrm>
            <a:off x="6217920" y="3611880"/>
            <a:ext cx="2331720" cy="594360"/>
          </a:xfrm>
          <a:prstGeom prst="rect">
            <a:avLst/>
          </a:prstGeom>
          <a:noFill/>
          <a:ln/>
        </p:spPr>
        <p:txBody>
          <a:bodyPr wrap="square" lIns="0" tIns="0" rIns="0" bIns="0" rtlCol="0" anchor="t"/>
          <a:lstStyle/>
          <a:p>
            <a:pPr indent="0" marL="0">
              <a:buNone/>
            </a:pPr>
            <a:r>
              <a:rPr lang="en-US" sz="1200" dirty="0">
                <a:solidFill>
                  <a:schemeClr val="tx1"/>
                </a:solidFill>
              </a:rPr>
              <a:t>Invalid rule text, leftover log group, import path</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Cost: small, but above the plan's estimate</a:t>
            </a:r>
            <a:endParaRPr lang="en-US" sz="3000" dirty="0"/>
          </a:p>
        </p:txBody>
      </p:sp>
      <p:graphicFrame>
        <p:nvGraphicFramePr>
          <p:cNvPr id="3" name="Monthly cost chart" descr="Column chart of estimated monthly cost: about $12 idle, $22 at 1,000 questions, $112 at 10,000 questions"/>
          <p:cNvGraphicFramePr/>
          <p:nvPr/>
        </p:nvGraphicFramePr>
        <p:xfrm>
          <a:off x="457200" y="1097280"/>
          <a:ext cx="4572000" cy="3474720"/>
        </p:xfrm>
        <a:graphic xmlns:a="http://schemas.openxmlformats.org/drawingml/2006/main">
          <a:graphicData uri="http://schemas.openxmlformats.org/drawingml/2006/chart">
            <c:chart xmlns:c="http://schemas.openxmlformats.org/drawingml/2006/chart" r:id="rId1"/>
          </a:graphicData>
        </a:graphic>
      </p:graphicFrame>
      <p:sp>
        <p:nvSpPr>
          <p:cNvPr id="4" name="Per-question callout card"/>
          <p:cNvSpPr/>
          <p:nvPr/>
        </p:nvSpPr>
        <p:spPr>
          <a:xfrm>
            <a:off x="5349240" y="1143000"/>
            <a:ext cx="3337560" cy="1463040"/>
          </a:xfrm>
          <a:prstGeom prst="roundRect">
            <a:avLst>
              <a:gd name="adj" fmla="val 5000"/>
            </a:avLst>
          </a:prstGeom>
          <a:solidFill>
            <a:schemeClr val="bg2"/>
          </a:solidFill>
          <a:ln w="12700">
            <a:solidFill>
              <a:schemeClr val="bg2"/>
            </a:solidFill>
            <a:prstDash val="solid"/>
          </a:ln>
        </p:spPr>
      </p:sp>
      <p:sp>
        <p:nvSpPr>
          <p:cNvPr id="5" name="Per-question value"/>
          <p:cNvSpPr txBox="1"/>
          <p:nvPr/>
        </p:nvSpPr>
        <p:spPr>
          <a:xfrm>
            <a:off x="5532120" y="1234440"/>
            <a:ext cx="1371600" cy="77724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~1¢</a:t>
            </a:r>
            <a:endParaRPr lang="en-US" sz="4000" dirty="0"/>
          </a:p>
        </p:txBody>
      </p:sp>
      <p:sp>
        <p:nvSpPr>
          <p:cNvPr id="6" name="Per-question label"/>
          <p:cNvSpPr txBox="1"/>
          <p:nvPr/>
        </p:nvSpPr>
        <p:spPr>
          <a:xfrm>
            <a:off x="5532120" y="1965960"/>
            <a:ext cx="3017520" cy="502920"/>
          </a:xfrm>
          <a:prstGeom prst="rect">
            <a:avLst/>
          </a:prstGeom>
          <a:noFill/>
          <a:ln/>
        </p:spPr>
        <p:txBody>
          <a:bodyPr wrap="square" lIns="0" tIns="0" rIns="0" bIns="0" rtlCol="0" anchor="ctr"/>
          <a:lstStyle/>
          <a:p>
            <a:pPr indent="0" marL="0">
              <a:buNone/>
            </a:pPr>
            <a:r>
              <a:rPr lang="en-US" sz="1300" dirty="0">
                <a:solidFill>
                  <a:schemeClr val="tx1"/>
                </a:solidFill>
              </a:rPr>
              <a:t>per question measured, vs 0.3¢ in the plan</a:t>
            </a:r>
            <a:endParaRPr lang="en-US" sz="1300" dirty="0"/>
          </a:p>
        </p:txBody>
      </p:sp>
      <p:sp>
        <p:nvSpPr>
          <p:cNvPr id="7" name="Cost notes"/>
          <p:cNvSpPr txBox="1"/>
          <p:nvPr/>
        </p:nvSpPr>
        <p:spPr>
          <a:xfrm>
            <a:off x="5349240" y="2788920"/>
            <a:ext cx="3337560" cy="17830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Hybrid routing makes 3 model calls and sends about 8,000 tokens of context per question</a:t>
            </a:r>
            <a:endParaRPr lang="en-US" sz="1300" dirty="0"/>
          </a:p>
          <a:p>
            <a:pPr marL="177800" indent="-177800">
              <a:spcAft>
                <a:spcPts val="600"/>
              </a:spcAft>
              <a:buSzPct val="100000"/>
              <a:buChar char="•"/>
            </a:pPr>
            <a:r>
              <a:rPr lang="en-US" sz="1300" dirty="0">
                <a:solidFill>
                  <a:schemeClr val="tx1"/>
                </a:solidFill>
              </a:rPr>
              <a:t>Idle cost is mostly the WAF ($7/month)</a:t>
            </a:r>
            <a:endParaRPr lang="en-US" sz="1300" dirty="0"/>
          </a:p>
          <a:p>
            <a:pPr marL="177800" indent="-177800">
              <a:spcAft>
                <a:spcPts val="600"/>
              </a:spcAft>
              <a:buSzPct val="100000"/>
              <a:buChar char="•"/>
            </a:pPr>
            <a:r>
              <a:rPr lang="en-US" sz="1300" dirty="0">
                <a:solidFill>
                  <a:schemeClr val="tx1"/>
                </a:solidFill>
              </a:rPr>
              <a:t>Alerts at 50/80/100% of a $60/month budget</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Pending: actions and owners</a:t>
            </a:r>
            <a:endParaRPr lang="en-US" sz="3000" dirty="0"/>
          </a:p>
        </p:txBody>
      </p:sp>
      <p:graphicFrame>
        <p:nvGraphicFramePr>
          <p:cNvPr id="10" name="Pending actions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5486400"/>
                <a:gridCol w="1645920"/>
                <a:gridCol w="1097280"/>
              </a:tblGrid>
              <a:tr h="429768">
                <a:tc>
                  <a:txBody>
                    <a:bodyPr/>
                    <a:lstStyle/>
                    <a:p>
                      <a:pPr indent="0" marL="0">
                        <a:buNone/>
                      </a:pPr>
                      <a:r>
                        <a:rPr lang="en-US" sz="1200" b="1" dirty="0">
                          <a:solidFill>
                            <a:schemeClr val="bg1"/>
                          </a:solidFill>
                        </a:rPr>
                        <a:t>Action</a:t>
                      </a:r>
                      <a:endParaRPr lang="en-US" sz="12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Owner</a:t>
                      </a:r>
                      <a:endParaRPr lang="en-US" sz="12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Priority</a:t>
                      </a:r>
                      <a:endParaRPr lang="en-US" sz="12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tx2"/>
                    </a:solidFill>
                  </a:tcPr>
                </a:tc>
              </a:tr>
              <a:tr h="429768">
                <a:tc>
                  <a:txBody>
                    <a:bodyPr/>
                    <a:lstStyle/>
                    <a:p>
                      <a:pPr indent="0" marL="0">
                        <a:buNone/>
                      </a:pPr>
                      <a:r>
                        <a:rPr lang="en-US" sz="1200" dirty="0">
                          <a:solidFill>
                            <a:schemeClr val="tx1"/>
                          </a:solidFill>
                        </a:rPr>
                        <a:t>Confirm the AWS alert email subscription</a:t>
                      </a:r>
                      <a:endParaRPr lang="en-US" sz="12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Prajwal</a:t>
                      </a:r>
                      <a:endParaRPr lang="en-US" sz="12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4"/>
                          </a:solidFill>
                        </a:rPr>
                        <a:t>High</a:t>
                      </a:r>
                      <a:endParaRPr lang="en-US" sz="12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r>
              <a:tr h="429768">
                <a:tc>
                  <a:txBody>
                    <a:bodyPr/>
                    <a:lstStyle/>
                    <a:p>
                      <a:pPr indent="0" marL="0">
                        <a:buNone/>
                      </a:pPr>
                      <a:r>
                        <a:rPr lang="en-US" sz="1200" dirty="0">
                          <a:solidFill>
                            <a:schemeClr val="tx1"/>
                          </a:solidFill>
                        </a:rPr>
                        <a:t>Commit fixes and docs to the aws-bedrock-migration branch, open a PR</a:t>
                      </a:r>
                      <a:endParaRPr lang="en-US" sz="12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Prajwal</a:t>
                      </a:r>
                      <a:endParaRPr lang="en-US" sz="12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4"/>
                          </a:solidFill>
                        </a:rPr>
                        <a:t>High</a:t>
                      </a:r>
                      <a:endParaRPr lang="en-US" sz="12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r>
              <a:tr h="429768">
                <a:tc>
                  <a:txBody>
                    <a:bodyPr/>
                    <a:lstStyle/>
                    <a:p>
                      <a:pPr indent="0" marL="0">
                        <a:buNone/>
                      </a:pPr>
                      <a:r>
                        <a:rPr lang="en-US" sz="1200" dirty="0">
                          <a:solidFill>
                            <a:schemeClr val="tx1"/>
                          </a:solidFill>
                        </a:rPr>
                        <a:t>Activate the "Project" cost allocation tag (management account)</a:t>
                      </a:r>
                      <a:endParaRPr lang="en-US" sz="12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Ben</a:t>
                      </a:r>
                      <a:endParaRPr lang="en-US" sz="12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3"/>
                          </a:solidFill>
                        </a:rPr>
                        <a:t>Medium</a:t>
                      </a:r>
                      <a:endParaRPr lang="en-US" sz="12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r>
              <a:tr h="429768">
                <a:tc>
                  <a:txBody>
                    <a:bodyPr/>
                    <a:lstStyle/>
                    <a:p>
                      <a:pPr indent="0" marL="0">
                        <a:buNone/>
                      </a:pPr>
                      <a:r>
                        <a:rPr lang="en-US" sz="1200" dirty="0">
                          <a:solidFill>
                            <a:schemeClr val="tx1"/>
                          </a:solidFill>
                        </a:rPr>
                        <a:t>Cut per-question cost (smaller context, fewer classifier calls)</a:t>
                      </a:r>
                      <a:endParaRPr lang="en-US" sz="12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Prajwal</a:t>
                      </a:r>
                      <a:endParaRPr lang="en-US" sz="12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3"/>
                          </a:solidFill>
                        </a:rPr>
                        <a:t>Medium</a:t>
                      </a:r>
                      <a:endParaRPr lang="en-US" sz="12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r>
              <a:tr h="429768">
                <a:tc>
                  <a:txBody>
                    <a:bodyPr/>
                    <a:lstStyle/>
                    <a:p>
                      <a:pPr indent="0" marL="0">
                        <a:buNone/>
                      </a:pPr>
                      <a:r>
                        <a:rPr lang="en-US" sz="1200" dirty="0">
                          <a:solidFill>
                            <a:schemeClr val="tx1"/>
                          </a:solidFill>
                        </a:rPr>
                        <a:t>Tune off-topic threshold and WAF limits with real questions</a:t>
                      </a:r>
                      <a:endParaRPr lang="en-US" sz="12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Prajwal + team</a:t>
                      </a:r>
                      <a:endParaRPr lang="en-US" sz="12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3"/>
                          </a:solidFill>
                        </a:rPr>
                        <a:t>Medium</a:t>
                      </a:r>
                      <a:endParaRPr lang="en-US" sz="12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r>
              <a:tr h="429768">
                <a:tc>
                  <a:txBody>
                    <a:bodyPr/>
                    <a:lstStyle/>
                    <a:p>
                      <a:pPr indent="0" marL="0">
                        <a:buNone/>
                      </a:pPr>
                      <a:r>
                        <a:rPr lang="en-US" sz="1200" dirty="0">
                          <a:solidFill>
                            <a:schemeClr val="tx1"/>
                          </a:solidFill>
                        </a:rPr>
                        <a:t>Check Azure DB for content newer than the repo files, then sync</a:t>
                      </a:r>
                      <a:endParaRPr lang="en-US" sz="12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Team</a:t>
                      </a:r>
                      <a:endParaRPr lang="en-US" sz="12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3"/>
                          </a:solidFill>
                        </a:rPr>
                        <a:t>Medium</a:t>
                      </a:r>
                      <a:endParaRPr lang="en-US" sz="12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r>
              <a:tr h="429768">
                <a:tc>
                  <a:txBody>
                    <a:bodyPr/>
                    <a:lstStyle/>
                    <a:p>
                      <a:pPr indent="0" marL="0">
                        <a:buNone/>
                      </a:pPr>
                      <a:r>
                        <a:rPr lang="en-US" sz="1200" dirty="0">
                          <a:solidFill>
                            <a:schemeClr val="tx1"/>
                          </a:solidFill>
                        </a:rPr>
                        <a:t>Delete the empty leftover log group from the first attempt</a:t>
                      </a:r>
                      <a:endParaRPr lang="en-US" sz="12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Prajwal</a:t>
                      </a:r>
                      <a:endParaRPr lang="en-US" sz="12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5"/>
                          </a:solidFill>
                        </a:rPr>
                        <a:t>Low</a:t>
                      </a:r>
                      <a:endParaRPr lang="en-US" sz="1200" dirty="0"/>
                    </a:p>
                  </a:txBody>
                  <a:tcPr marL="91440" marR="91440" marT="45720" marB="45720" anchor="ctr">
                    <a:lnL w="9525" cap="flat" cmpd="sng" algn="ctr">
                      <a:solidFill>
                        <a:srgbClr val="9CC9D6"/>
                      </a:solidFill>
                      <a:prstDash val="solid"/>
                      <a:round/>
                      <a:headEnd type="none" w="med" len="med"/>
                      <a:tailEnd type="none" w="med" len="med"/>
                    </a:lnL>
                    <a:lnR w="9525" cap="flat" cmpd="sng" algn="ctr">
                      <a:solidFill>
                        <a:srgbClr val="9CC9D6"/>
                      </a:solidFill>
                      <a:prstDash val="solid"/>
                      <a:round/>
                      <a:headEnd type="none" w="med" len="med"/>
                      <a:tailEnd type="none" w="med" len="med"/>
                    </a:lnR>
                    <a:lnT w="9525" cap="flat" cmpd="sng" algn="ctr">
                      <a:solidFill>
                        <a:srgbClr val="9CC9D6"/>
                      </a:solidFill>
                      <a:prstDash val="solid"/>
                      <a:round/>
                      <a:headEnd type="none" w="med" len="med"/>
                      <a:tailEnd type="none" w="med" len="med"/>
                    </a:lnT>
                    <a:lnB w="9525" cap="flat" cmpd="sng" algn="ctr">
                      <a:solidFill>
                        <a:srgbClr val="9CC9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Later: the road to production</a:t>
            </a:r>
            <a:endParaRPr lang="en-US" sz="3000" dirty="0"/>
          </a:p>
        </p:txBody>
      </p:sp>
      <p:sp>
        <p:nvSpPr>
          <p:cNvPr id="3" name="Process line"/>
          <p:cNvSpPr/>
          <p:nvPr/>
        </p:nvSpPr>
        <p:spPr>
          <a:xfrm>
            <a:off x="960120" y="1600200"/>
            <a:ext cx="6309360" cy="0"/>
          </a:xfrm>
          <a:prstGeom prst="line">
            <a:avLst/>
          </a:prstGeom>
          <a:noFill/>
          <a:ln w="38100">
            <a:solidFill>
              <a:schemeClr val="accent6"/>
            </a:solidFill>
            <a:prstDash val="solid"/>
          </a:ln>
        </p:spPr>
      </p:sp>
      <p:sp>
        <p:nvSpPr>
          <p:cNvPr id="4" name="Step circle 1"/>
          <p:cNvSpPr/>
          <p:nvPr/>
        </p:nvSpPr>
        <p:spPr>
          <a:xfrm>
            <a:off x="594360" y="1188720"/>
            <a:ext cx="822960" cy="822960"/>
          </a:xfrm>
          <a:prstGeom prst="ellipse">
            <a:avLst/>
          </a:prstGeom>
          <a:solidFill>
            <a:schemeClr val="accent3"/>
          </a:solidFill>
          <a:ln w="38100">
            <a:solidFill>
              <a:schemeClr val="bg1"/>
            </a:solidFill>
            <a:prstDash val="solid"/>
          </a:ln>
        </p:spPr>
      </p:sp>
      <p:sp>
        <p:nvSpPr>
          <p:cNvPr id="5" name="Step number 1"/>
          <p:cNvSpPr txBox="1"/>
          <p:nvPr/>
        </p:nvSpPr>
        <p:spPr>
          <a:xfrm>
            <a:off x="594360" y="118872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6" name="Step title 1"/>
          <p:cNvSpPr txBox="1"/>
          <p:nvPr/>
        </p:nvSpPr>
        <p:spPr>
          <a:xfrm>
            <a:off x="457200" y="2148840"/>
            <a:ext cx="1920240" cy="411480"/>
          </a:xfrm>
          <a:prstGeom prst="rect">
            <a:avLst/>
          </a:prstGeom>
          <a:noFill/>
          <a:ln/>
        </p:spPr>
        <p:txBody>
          <a:bodyPr wrap="square" lIns="0" tIns="0" rIns="0" bIns="0" rtlCol="0" anchor="ctr"/>
          <a:lstStyle/>
          <a:p>
            <a:pPr indent="0" marL="0">
              <a:buNone/>
            </a:pPr>
            <a:r>
              <a:rPr lang="en-US" sz="1700" b="1" dirty="0">
                <a:solidFill>
                  <a:schemeClr val="tx2"/>
                </a:solidFill>
              </a:rPr>
              <a:t>Team testing</a:t>
            </a:r>
            <a:endParaRPr lang="en-US" sz="1700" dirty="0"/>
          </a:p>
        </p:txBody>
      </p:sp>
      <p:sp>
        <p:nvSpPr>
          <p:cNvPr id="7" name="Step text 1"/>
          <p:cNvSpPr txBox="1"/>
          <p:nvPr/>
        </p:nvSpPr>
        <p:spPr>
          <a:xfrm>
            <a:off x="457200" y="2560320"/>
            <a:ext cx="1920240" cy="914400"/>
          </a:xfrm>
          <a:prstGeom prst="rect">
            <a:avLst/>
          </a:prstGeom>
          <a:noFill/>
          <a:ln/>
        </p:spPr>
        <p:txBody>
          <a:bodyPr wrap="square" lIns="0" tIns="0" rIns="0" bIns="0" rtlCol="0" anchor="t"/>
          <a:lstStyle/>
          <a:p>
            <a:pPr indent="0" marL="0">
              <a:buNone/>
            </a:pPr>
            <a:r>
              <a:rPr lang="en-US" sz="1300" dirty="0">
                <a:solidFill>
                  <a:schemeClr val="tx1"/>
                </a:solidFill>
              </a:rPr>
              <a:t>Real questions from the team; log wrong or missing answers</a:t>
            </a:r>
            <a:endParaRPr lang="en-US" sz="1300" dirty="0"/>
          </a:p>
        </p:txBody>
      </p:sp>
      <p:sp>
        <p:nvSpPr>
          <p:cNvPr id="8" name="Step circle 2"/>
          <p:cNvSpPr/>
          <p:nvPr/>
        </p:nvSpPr>
        <p:spPr>
          <a:xfrm>
            <a:off x="2697480" y="1188720"/>
            <a:ext cx="822960" cy="822960"/>
          </a:xfrm>
          <a:prstGeom prst="ellipse">
            <a:avLst/>
          </a:prstGeom>
          <a:solidFill>
            <a:schemeClr val="tx2"/>
          </a:solidFill>
          <a:ln w="38100">
            <a:solidFill>
              <a:schemeClr val="bg1"/>
            </a:solidFill>
            <a:prstDash val="solid"/>
          </a:ln>
        </p:spPr>
      </p:sp>
      <p:sp>
        <p:nvSpPr>
          <p:cNvPr id="9" name="Step number 2"/>
          <p:cNvSpPr txBox="1"/>
          <p:nvPr/>
        </p:nvSpPr>
        <p:spPr>
          <a:xfrm>
            <a:off x="2697480" y="118872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0" name="Step title 2"/>
          <p:cNvSpPr txBox="1"/>
          <p:nvPr/>
        </p:nvSpPr>
        <p:spPr>
          <a:xfrm>
            <a:off x="2560320" y="2148840"/>
            <a:ext cx="1920240" cy="411480"/>
          </a:xfrm>
          <a:prstGeom prst="rect">
            <a:avLst/>
          </a:prstGeom>
          <a:noFill/>
          <a:ln/>
        </p:spPr>
        <p:txBody>
          <a:bodyPr wrap="square" lIns="0" tIns="0" rIns="0" bIns="0" rtlCol="0" anchor="ctr"/>
          <a:lstStyle/>
          <a:p>
            <a:pPr indent="0" marL="0">
              <a:buNone/>
            </a:pPr>
            <a:r>
              <a:rPr lang="en-US" sz="1700" b="1" dirty="0">
                <a:solidFill>
                  <a:schemeClr val="tx2"/>
                </a:solidFill>
              </a:rPr>
              <a:t>Tune</a:t>
            </a:r>
            <a:endParaRPr lang="en-US" sz="1700" dirty="0"/>
          </a:p>
        </p:txBody>
      </p:sp>
      <p:sp>
        <p:nvSpPr>
          <p:cNvPr id="11" name="Step text 2"/>
          <p:cNvSpPr txBox="1"/>
          <p:nvPr/>
        </p:nvSpPr>
        <p:spPr>
          <a:xfrm>
            <a:off x="2560320" y="2560320"/>
            <a:ext cx="1920240" cy="914400"/>
          </a:xfrm>
          <a:prstGeom prst="rect">
            <a:avLst/>
          </a:prstGeom>
          <a:noFill/>
          <a:ln/>
        </p:spPr>
        <p:txBody>
          <a:bodyPr wrap="square" lIns="0" tIns="0" rIns="0" bIns="0" rtlCol="0" anchor="t"/>
          <a:lstStyle/>
          <a:p>
            <a:pPr indent="0" marL="0">
              <a:buNone/>
            </a:pPr>
            <a:r>
              <a:rPr lang="en-US" sz="1300" dirty="0">
                <a:solidFill>
                  <a:schemeClr val="tx1"/>
                </a:solidFill>
              </a:rPr>
              <a:t>Threshold, WAF limits and cost, using that feedback</a:t>
            </a:r>
            <a:endParaRPr lang="en-US" sz="1300" dirty="0"/>
          </a:p>
        </p:txBody>
      </p:sp>
      <p:sp>
        <p:nvSpPr>
          <p:cNvPr id="12" name="Step circle 3"/>
          <p:cNvSpPr/>
          <p:nvPr/>
        </p:nvSpPr>
        <p:spPr>
          <a:xfrm>
            <a:off x="4800600" y="1188720"/>
            <a:ext cx="822960" cy="822960"/>
          </a:xfrm>
          <a:prstGeom prst="ellipse">
            <a:avLst/>
          </a:prstGeom>
          <a:solidFill>
            <a:schemeClr val="tx2"/>
          </a:solidFill>
          <a:ln w="38100">
            <a:solidFill>
              <a:schemeClr val="bg1"/>
            </a:solidFill>
            <a:prstDash val="solid"/>
          </a:ln>
        </p:spPr>
      </p:sp>
      <p:sp>
        <p:nvSpPr>
          <p:cNvPr id="13" name="Step number 3"/>
          <p:cNvSpPr txBox="1"/>
          <p:nvPr/>
        </p:nvSpPr>
        <p:spPr>
          <a:xfrm>
            <a:off x="4800600" y="118872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4" name="Step title 3"/>
          <p:cNvSpPr txBox="1"/>
          <p:nvPr/>
        </p:nvSpPr>
        <p:spPr>
          <a:xfrm>
            <a:off x="4663440" y="2148840"/>
            <a:ext cx="1920240" cy="411480"/>
          </a:xfrm>
          <a:prstGeom prst="rect">
            <a:avLst/>
          </a:prstGeom>
          <a:noFill/>
          <a:ln/>
        </p:spPr>
        <p:txBody>
          <a:bodyPr wrap="square" lIns="0" tIns="0" rIns="0" bIns="0" rtlCol="0" anchor="ctr"/>
          <a:lstStyle/>
          <a:p>
            <a:pPr indent="0" marL="0">
              <a:buNone/>
            </a:pPr>
            <a:r>
              <a:rPr lang="en-US" sz="1700" b="1" dirty="0">
                <a:solidFill>
                  <a:schemeClr val="tx2"/>
                </a:solidFill>
              </a:rPr>
              <a:t>Harden</a:t>
            </a:r>
            <a:endParaRPr lang="en-US" sz="1700" dirty="0"/>
          </a:p>
        </p:txBody>
      </p:sp>
      <p:sp>
        <p:nvSpPr>
          <p:cNvPr id="15" name="Step text 3"/>
          <p:cNvSpPr txBox="1"/>
          <p:nvPr/>
        </p:nvSpPr>
        <p:spPr>
          <a:xfrm>
            <a:off x="4663440" y="2560320"/>
            <a:ext cx="1920240" cy="914400"/>
          </a:xfrm>
          <a:prstGeom prst="rect">
            <a:avLst/>
          </a:prstGeom>
          <a:noFill/>
          <a:ln/>
        </p:spPr>
        <p:txBody>
          <a:bodyPr wrap="square" lIns="0" tIns="0" rIns="0" bIns="0" rtlCol="0" anchor="t"/>
          <a:lstStyle/>
          <a:p>
            <a:pPr indent="0" marL="0">
              <a:buNone/>
            </a:pPr>
            <a:r>
              <a:rPr lang="en-US" sz="1300" dirty="0">
                <a:solidFill>
                  <a:schemeClr val="tx1"/>
                </a:solidFill>
              </a:rPr>
              <a:t>env_name=prod (keeps data on delete), custom domain, grounding check</a:t>
            </a:r>
            <a:endParaRPr lang="en-US" sz="1300" dirty="0"/>
          </a:p>
        </p:txBody>
      </p:sp>
      <p:sp>
        <p:nvSpPr>
          <p:cNvPr id="16" name="Step circle 4"/>
          <p:cNvSpPr/>
          <p:nvPr/>
        </p:nvSpPr>
        <p:spPr>
          <a:xfrm>
            <a:off x="6903720" y="1188720"/>
            <a:ext cx="822960" cy="822960"/>
          </a:xfrm>
          <a:prstGeom prst="ellipse">
            <a:avLst/>
          </a:prstGeom>
          <a:solidFill>
            <a:schemeClr val="tx2"/>
          </a:solidFill>
          <a:ln w="38100">
            <a:solidFill>
              <a:schemeClr val="bg1"/>
            </a:solidFill>
            <a:prstDash val="solid"/>
          </a:ln>
        </p:spPr>
      </p:sp>
      <p:sp>
        <p:nvSpPr>
          <p:cNvPr id="17" name="Step number 4"/>
          <p:cNvSpPr txBox="1"/>
          <p:nvPr/>
        </p:nvSpPr>
        <p:spPr>
          <a:xfrm>
            <a:off x="6903720" y="118872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18" name="Step title 4"/>
          <p:cNvSpPr txBox="1"/>
          <p:nvPr/>
        </p:nvSpPr>
        <p:spPr>
          <a:xfrm>
            <a:off x="6766560" y="2148840"/>
            <a:ext cx="1920240" cy="411480"/>
          </a:xfrm>
          <a:prstGeom prst="rect">
            <a:avLst/>
          </a:prstGeom>
          <a:noFill/>
          <a:ln/>
        </p:spPr>
        <p:txBody>
          <a:bodyPr wrap="square" lIns="0" tIns="0" rIns="0" bIns="0" rtlCol="0" anchor="ctr"/>
          <a:lstStyle/>
          <a:p>
            <a:pPr indent="0" marL="0">
              <a:buNone/>
            </a:pPr>
            <a:r>
              <a:rPr lang="en-US" sz="1700" b="1" dirty="0">
                <a:solidFill>
                  <a:schemeClr val="tx2"/>
                </a:solidFill>
              </a:rPr>
              <a:t>Cut over</a:t>
            </a:r>
            <a:endParaRPr lang="en-US" sz="1700" dirty="0"/>
          </a:p>
        </p:txBody>
      </p:sp>
      <p:sp>
        <p:nvSpPr>
          <p:cNvPr id="19" name="Step text 4"/>
          <p:cNvSpPr txBox="1"/>
          <p:nvPr/>
        </p:nvSpPr>
        <p:spPr>
          <a:xfrm>
            <a:off x="6766560" y="2560320"/>
            <a:ext cx="1920240" cy="914400"/>
          </a:xfrm>
          <a:prstGeom prst="rect">
            <a:avLst/>
          </a:prstGeom>
          <a:noFill/>
          <a:ln/>
        </p:spPr>
        <p:txBody>
          <a:bodyPr wrap="square" lIns="0" tIns="0" rIns="0" bIns="0" rtlCol="0" anchor="t"/>
          <a:lstStyle/>
          <a:p>
            <a:pPr indent="0" marL="0">
              <a:buNone/>
            </a:pPr>
            <a:r>
              <a:rPr lang="en-US" sz="1300" dirty="0">
                <a:solidFill>
                  <a:schemeClr val="tx1"/>
                </a:solidFill>
              </a:rPr>
              <a:t>Point users to AWS, keep Azure read-only briefly, then retire it</a:t>
            </a:r>
            <a:endParaRPr lang="en-US" sz="1300" dirty="0"/>
          </a:p>
        </p:txBody>
      </p:sp>
      <p:sp>
        <p:nvSpPr>
          <p:cNvPr id="20" name="Options card"/>
          <p:cNvSpPr/>
          <p:nvPr/>
        </p:nvSpPr>
        <p:spPr>
          <a:xfrm>
            <a:off x="457200" y="3703320"/>
            <a:ext cx="8229600" cy="822960"/>
          </a:xfrm>
          <a:prstGeom prst="roundRect">
            <a:avLst>
              <a:gd name="adj" fmla="val 8889"/>
            </a:avLst>
          </a:prstGeom>
          <a:solidFill>
            <a:schemeClr val="bg2"/>
          </a:solidFill>
          <a:ln w="12700">
            <a:solidFill>
              <a:schemeClr val="bg2"/>
            </a:solidFill>
            <a:prstDash val="solid"/>
          </a:ln>
        </p:spPr>
      </p:sp>
      <p:sp>
        <p:nvSpPr>
          <p:cNvPr id="21" name="Options circle"/>
          <p:cNvSpPr/>
          <p:nvPr/>
        </p:nvSpPr>
        <p:spPr>
          <a:xfrm>
            <a:off x="640080" y="3858768"/>
            <a:ext cx="502920" cy="502920"/>
          </a:xfrm>
          <a:prstGeom prst="ellipse">
            <a:avLst/>
          </a:prstGeom>
          <a:solidFill>
            <a:schemeClr val="accent5"/>
          </a:solidFill>
          <a:ln w="12700">
            <a:solidFill>
              <a:schemeClr val="accent5"/>
            </a:solidFill>
            <a:prstDash val="solid"/>
          </a:ln>
        </p:spPr>
      </p:sp>
      <p:pic>
        <p:nvPicPr>
          <p:cNvPr id="22" name="Options icon" descr="Options">    </p:cNvPr>
          <p:cNvPicPr>
            <a:picLocks noChangeAspect="1"/>
          </p:cNvPicPr>
          <p:nvPr/>
        </p:nvPicPr>
        <p:blipFill>
          <a:blip r:embed="rId1"/>
          <a:stretch>
            <a:fillRect/>
          </a:stretch>
        </p:blipFill>
        <p:spPr>
          <a:xfrm>
            <a:off x="765810" y="3984498"/>
            <a:ext cx="251460" cy="251460"/>
          </a:xfrm>
          <a:prstGeom prst="rect">
            <a:avLst/>
          </a:prstGeom>
        </p:spPr>
      </p:pic>
      <p:sp>
        <p:nvSpPr>
          <p:cNvPr id="23" name="Options text"/>
          <p:cNvSpPr txBox="1"/>
          <p:nvPr/>
        </p:nvSpPr>
        <p:spPr>
          <a:xfrm>
            <a:off x="1325880" y="3749040"/>
            <a:ext cx="7223760" cy="731520"/>
          </a:xfrm>
          <a:prstGeom prst="rect">
            <a:avLst/>
          </a:prstGeom>
          <a:noFill/>
          <a:ln/>
        </p:spPr>
        <p:txBody>
          <a:bodyPr wrap="square" lIns="0" tIns="0" rIns="0" bIns="0" rtlCol="0" anchor="ctr"/>
          <a:lstStyle/>
          <a:p>
            <a:pPr indent="0" marL="0">
              <a:buNone/>
            </a:pPr>
            <a:r>
              <a:rPr lang="en-US" sz="1300" dirty="0">
                <a:solidFill>
                  <a:schemeClr val="tx1"/>
                </a:solidFill>
              </a:rPr>
              <a:t>Optional: keep the database warm (min 0.5 ACU, about +$43/month) to remove the ~15 s first-question delay; automate ingestion once the notebooks become scripts.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Closing team icon circle"/>
          <p:cNvSpPr/>
          <p:nvPr/>
        </p:nvSpPr>
        <p:spPr>
          <a:xfrm>
            <a:off x="548640" y="502920"/>
            <a:ext cx="685800" cy="685800"/>
          </a:xfrm>
          <a:prstGeom prst="ellipse">
            <a:avLst/>
          </a:prstGeom>
          <a:solidFill>
            <a:schemeClr val="accent3"/>
          </a:solidFill>
          <a:ln w="12700">
            <a:solidFill>
              <a:schemeClr val="accent3"/>
            </a:solidFill>
            <a:prstDash val="solid"/>
          </a:ln>
        </p:spPr>
      </p:sp>
      <p:pic>
        <p:nvPicPr>
          <p:cNvPr id="3" name="Closing team icon icon" descr="Closing team icon">    </p:cNvPr>
          <p:cNvPicPr>
            <a:picLocks noChangeAspect="1"/>
          </p:cNvPicPr>
          <p:nvPr/>
        </p:nvPicPr>
        <p:blipFill>
          <a:blip r:embed="rId1"/>
          <a:stretch>
            <a:fillRect/>
          </a:stretch>
        </p:blipFill>
        <p:spPr>
          <a:xfrm>
            <a:off x="720090" y="674370"/>
            <a:ext cx="342900" cy="342900"/>
          </a:xfrm>
          <a:prstGeom prst="rect">
            <a:avLst/>
          </a:prstGeom>
        </p:spPr>
      </p:pic>
      <p:sp>
        <p:nvSpPr>
          <p:cNvPr id="4" name="Text 0"/>
          <p:cNvSpPr/>
          <p:nvPr>
            <p:ph idx="100" type="title" hasCustomPrompt="1"/>
          </p:nvPr>
        </p:nvSpPr>
        <p:spPr>
          <a:xfrm>
            <a:off x="548640" y="1234440"/>
            <a:ext cx="8046720" cy="1188720"/>
          </a:xfrm>
          <a:prstGeom prst="rect">
            <a:avLst/>
          </a:prstGeom>
          <a:noFill/>
          <a:ln/>
        </p:spPr>
        <p:txBody>
          <a:bodyPr wrap="square" lIns="0" tIns="0" rIns="0" bIns="0" rtlCol="0" anchor="b"/>
          <a:lstStyle/>
          <a:p>
            <a:pPr algn="l" indent="0" marL="0">
              <a:buNone/>
            </a:pPr>
            <a:r>
              <a:rPr lang="en-US" sz="4000" b="1" dirty="0">
                <a:solidFill>
                  <a:schemeClr val="bg1"/>
                </a:solidFill>
              </a:rPr>
              <a:t>Ready for team testing</a:t>
            </a:r>
            <a:endParaRPr lang="en-US" sz="4000" dirty="0"/>
          </a:p>
        </p:txBody>
      </p:sp>
      <p:sp>
        <p:nvSpPr>
          <p:cNvPr id="5" name="Text 0"/>
          <p:cNvSpPr/>
          <p:nvPr>
            <p:ph idx="101" type="body" hasCustomPrompt="1"/>
          </p:nvPr>
        </p:nvSpPr>
        <p:spPr>
          <a:xfrm>
            <a:off x="548640" y="2560320"/>
            <a:ext cx="8046720" cy="1463040"/>
          </a:xfrm>
          <a:prstGeom prst="rect">
            <a:avLst/>
          </a:prstGeom>
          <a:noFill/>
          <a:ln/>
        </p:spPr>
        <p:txBody>
          <a:bodyPr wrap="square" lIns="0" tIns="0" rIns="0" bIns="0" rtlCol="0" anchor="t"/>
          <a:lstStyle/>
          <a:p>
            <a:pPr indent="0" marL="0">
              <a:spcAft>
                <a:spcPts val="600"/>
              </a:spcAft>
              <a:buNone/>
            </a:pPr>
            <a:r>
              <a:rPr lang="en-US" sz="1800" dirty="0">
                <a:solidFill>
                  <a:schemeClr val="bg1"/>
                </a:solidFill>
              </a:rPr>
              <a:t>Try it: https://d1ex71xvx5s2ao.cloudfront.net</a:t>
            </a:r>
            <a:endParaRPr lang="en-US" sz="1800" dirty="0"/>
          </a:p>
          <a:p>
            <a:pPr indent="0" marL="0">
              <a:spcAft>
                <a:spcPts val="600"/>
              </a:spcAft>
              <a:buNone/>
            </a:pPr>
            <a:r>
              <a:rPr lang="en-US" sz="1600" dirty="0">
                <a:solidFill>
                  <a:schemeClr val="accent6"/>
                </a:solidFill>
              </a:rPr>
              <a:t>Ask real CIROH questions this week and send any wrong or missing answers</a:t>
            </a:r>
            <a:endParaRPr lang="en-US" sz="1800" dirty="0"/>
          </a:p>
        </p:txBody>
      </p:sp>
    </p:spTree>
  </p:cSld>
  <p:clrMapOvr>
    <a:masterClrMapping/>
  </p:clrMapOvr>
</p:sld>
</file>

<file path=ppt/theme/theme1.xml><?xml version="1.0" encoding="utf-8"?>
<a:theme xmlns:a="http://schemas.openxmlformats.org/drawingml/2006/main" name="CIROH Water">
  <a:themeElements>
    <a:clrScheme name="CIROH Water">
      <a:dk1>
        <a:srgbClr val="0F2A3D"/>
      </a:dk1>
      <a:lt1>
        <a:srgbClr val="FFFFFF"/>
      </a:lt1>
      <a:dk2>
        <a:srgbClr val="0B4F6C"/>
      </a:dk2>
      <a:lt2>
        <a:srgbClr val="EAF3F5"/>
      </a:lt2>
      <a:accent1>
        <a:srgbClr val="1B8A9A"/>
      </a:accent1>
      <a:accent2>
        <a:srgbClr val="2E8B57"/>
      </a:accent2>
      <a:accent3>
        <a:srgbClr val="D9932E"/>
      </a:accent3>
      <a:accent4>
        <a:srgbClr val="B5523B"/>
      </a:accent4>
      <a:accent5>
        <a:srgbClr val="4C6E91"/>
      </a:accent5>
      <a:accent6>
        <a:srgbClr val="9CC9D6"/>
      </a:accent6>
      <a:hlink>
        <a:srgbClr val="1B8A9A"/>
      </a:hlink>
      <a:folHlink>
        <a:srgbClr val="4C6E91"/>
      </a:folHlink>
    </a:clrScheme>
    <a:fontScheme name="CIROH Wat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CIROH DocuHub Chatbot - AWS migration status</dc:title>
  <dc:subject>PptxGenJS Presentation</dc:subject>
  <dc:creator>Prajwal</dc:creator>
  <cp:lastModifiedBy>Prajwal</cp:lastModifiedBy>
  <cp:revision>1</cp:revision>
  <dcterms:created xsi:type="dcterms:W3CDTF">2026-10-05T15:00:17Z</dcterms:created>
  <dcterms:modified xsi:type="dcterms:W3CDTF">2026-10-05T15:00:17Z</dcterms:modified>
</cp:coreProperties>
</file>